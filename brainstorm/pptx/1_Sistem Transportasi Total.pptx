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262" r:id="rId3"/>
    <p:sldId id="269" r:id="rId4"/>
    <p:sldId id="263" r:id="rId5"/>
    <p:sldId id="264" r:id="rId6"/>
    <p:sldId id="265" r:id="rId7"/>
    <p:sldId id="270" r:id="rId8"/>
    <p:sldId id="266" r:id="rId9"/>
    <p:sldId id="267" r:id="rId10"/>
    <p:sldId id="268" r:id="rId11"/>
    <p:sldId id="261" r:id="rId12"/>
    <p:sldId id="272" r:id="rId13"/>
    <p:sldId id="271" r:id="rId14"/>
    <p:sldId id="274" r:id="rId15"/>
    <p:sldId id="273" r:id="rId16"/>
    <p:sldId id="257" r:id="rId17"/>
    <p:sldId id="260" r:id="rId18"/>
    <p:sldId id="293" r:id="rId19"/>
    <p:sldId id="258" r:id="rId20"/>
    <p:sldId id="259" r:id="rId21"/>
    <p:sldId id="275" r:id="rId22"/>
    <p:sldId id="294" r:id="rId23"/>
    <p:sldId id="276" r:id="rId24"/>
    <p:sldId id="277" r:id="rId25"/>
    <p:sldId id="279" r:id="rId26"/>
    <p:sldId id="280" r:id="rId27"/>
    <p:sldId id="282" r:id="rId28"/>
    <p:sldId id="283" r:id="rId29"/>
    <p:sldId id="284" r:id="rId30"/>
    <p:sldId id="285" r:id="rId31"/>
    <p:sldId id="286" r:id="rId32"/>
    <p:sldId id="287" r:id="rId33"/>
    <p:sldId id="288" r:id="rId34"/>
    <p:sldId id="289" r:id="rId35"/>
    <p:sldId id="290" r:id="rId36"/>
    <p:sldId id="291" r:id="rId37"/>
    <p:sldId id="292" r:id="rId38"/>
    <p:sldId id="278"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4"/>
    <p:restoredTop sz="85956" autoAdjust="0"/>
  </p:normalViewPr>
  <p:slideViewPr>
    <p:cSldViewPr>
      <p:cViewPr varScale="1">
        <p:scale>
          <a:sx n="67" d="100"/>
          <a:sy n="67" d="100"/>
        </p:scale>
        <p:origin x="142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AB4558B-366E-4CB4-81ED-53B31C6E2089}" type="datetimeFigureOut">
              <a:rPr lang="en-US" smtClean="0"/>
              <a:pPr/>
              <a:t>8/29/17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86A4F2C-84D8-42C5-988A-B9D2198D96BD}" type="slidenum">
              <a:rPr lang="en-US" smtClean="0"/>
              <a:pPr/>
              <a:t>‹#›</a:t>
            </a:fld>
            <a:endParaRPr lang="en-US"/>
          </a:p>
        </p:txBody>
      </p:sp>
    </p:spTree>
    <p:extLst>
      <p:ext uri="{BB962C8B-B14F-4D97-AF65-F5344CB8AC3E}">
        <p14:creationId xmlns:p14="http://schemas.microsoft.com/office/powerpoint/2010/main" val="2790539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86A4F2C-84D8-42C5-988A-B9D2198D96BD}" type="slidenum">
              <a:rPr lang="en-US" smtClean="0"/>
              <a:pPr/>
              <a:t>8</a:t>
            </a:fld>
            <a:endParaRPr lang="en-US"/>
          </a:p>
        </p:txBody>
      </p:sp>
    </p:spTree>
    <p:extLst>
      <p:ext uri="{BB962C8B-B14F-4D97-AF65-F5344CB8AC3E}">
        <p14:creationId xmlns:p14="http://schemas.microsoft.com/office/powerpoint/2010/main" val="18873752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Active accessibility: the</a:t>
            </a:r>
            <a:r>
              <a:rPr lang="en-US" baseline="0" dirty="0" smtClean="0"/>
              <a:t> generalized cost (disutility) of reaching other zones</a:t>
            </a:r>
          </a:p>
          <a:p>
            <a:r>
              <a:rPr lang="en-US" baseline="0" dirty="0" smtClean="0"/>
              <a:t>Passive accessibility: the generalized cost (disutility) of being reached from other zones.</a:t>
            </a:r>
            <a:endParaRPr lang="en-US" dirty="0"/>
          </a:p>
        </p:txBody>
      </p:sp>
      <p:sp>
        <p:nvSpPr>
          <p:cNvPr id="4" name="Slide Number Placeholder 3"/>
          <p:cNvSpPr>
            <a:spLocks noGrp="1"/>
          </p:cNvSpPr>
          <p:nvPr>
            <p:ph type="sldNum" sz="quarter" idx="10"/>
          </p:nvPr>
        </p:nvSpPr>
        <p:spPr/>
        <p:txBody>
          <a:bodyPr/>
          <a:lstStyle/>
          <a:p>
            <a:fld id="{E86A4F2C-84D8-42C5-988A-B9D2198D96BD}" type="slidenum">
              <a:rPr lang="en-US" smtClean="0"/>
              <a:pPr/>
              <a:t>11</a:t>
            </a:fld>
            <a:endParaRPr lang="en-US"/>
          </a:p>
        </p:txBody>
      </p:sp>
    </p:spTree>
    <p:extLst>
      <p:ext uri="{BB962C8B-B14F-4D97-AF65-F5344CB8AC3E}">
        <p14:creationId xmlns:p14="http://schemas.microsoft.com/office/powerpoint/2010/main" val="1827514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b="1" i="0" baseline="0">
                <a:solidFill>
                  <a:schemeClr val="accent4">
                    <a:lumMod val="50000"/>
                  </a:schemeClr>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baseline="0">
                <a:solidFill>
                  <a:schemeClr val="accent1">
                    <a:lumMod val="75000"/>
                  </a:schemeClr>
                </a:solidFill>
                <a:latin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2" name="TextBox 11"/>
          <p:cNvSpPr txBox="1"/>
          <p:nvPr userDrawn="1"/>
        </p:nvSpPr>
        <p:spPr>
          <a:xfrm>
            <a:off x="3198812" y="228600"/>
            <a:ext cx="4738861" cy="954107"/>
          </a:xfrm>
          <a:prstGeom prst="rect">
            <a:avLst/>
          </a:prstGeom>
          <a:noFill/>
        </p:spPr>
        <p:txBody>
          <a:bodyPr wrap="none" rtlCol="0">
            <a:spAutoFit/>
          </a:bodyPr>
          <a:lstStyle/>
          <a:p>
            <a:pPr algn="r"/>
            <a:r>
              <a:rPr lang="en-US" sz="1400" b="1" dirty="0" smtClean="0">
                <a:solidFill>
                  <a:schemeClr val="accent3">
                    <a:lumMod val="40000"/>
                    <a:lumOff val="60000"/>
                  </a:schemeClr>
                </a:solidFill>
              </a:rPr>
              <a:t>TR5101 </a:t>
            </a:r>
            <a:r>
              <a:rPr lang="en-US" sz="1400" b="1" dirty="0" err="1" smtClean="0">
                <a:solidFill>
                  <a:schemeClr val="accent3">
                    <a:lumMod val="40000"/>
                    <a:lumOff val="60000"/>
                  </a:schemeClr>
                </a:solidFill>
              </a:rPr>
              <a:t>Elemen</a:t>
            </a:r>
            <a:r>
              <a:rPr lang="en-US" sz="1400" b="1" dirty="0" smtClean="0">
                <a:solidFill>
                  <a:schemeClr val="accent3">
                    <a:lumMod val="40000"/>
                    <a:lumOff val="60000"/>
                  </a:schemeClr>
                </a:solidFill>
              </a:rPr>
              <a:t> </a:t>
            </a:r>
            <a:r>
              <a:rPr lang="en-US" sz="1400" b="1" dirty="0" err="1" smtClean="0">
                <a:solidFill>
                  <a:schemeClr val="accent3">
                    <a:lumMod val="40000"/>
                    <a:lumOff val="60000"/>
                  </a:schemeClr>
                </a:solidFill>
              </a:rPr>
              <a:t>dan</a:t>
            </a:r>
            <a:r>
              <a:rPr lang="en-US" sz="1400" b="1" dirty="0" smtClean="0">
                <a:solidFill>
                  <a:schemeClr val="accent3">
                    <a:lumMod val="40000"/>
                    <a:lumOff val="60000"/>
                  </a:schemeClr>
                </a:solidFill>
              </a:rPr>
              <a:t> </a:t>
            </a:r>
            <a:r>
              <a:rPr lang="en-US" sz="1400" b="1" dirty="0" err="1" smtClean="0">
                <a:solidFill>
                  <a:schemeClr val="accent3">
                    <a:lumMod val="40000"/>
                    <a:lumOff val="60000"/>
                  </a:schemeClr>
                </a:solidFill>
              </a:rPr>
              <a:t>Sistem</a:t>
            </a:r>
            <a:r>
              <a:rPr lang="en-US" sz="1400" b="1" dirty="0" smtClean="0">
                <a:solidFill>
                  <a:schemeClr val="accent3">
                    <a:lumMod val="40000"/>
                    <a:lumOff val="60000"/>
                  </a:schemeClr>
                </a:solidFill>
              </a:rPr>
              <a:t> </a:t>
            </a:r>
            <a:r>
              <a:rPr lang="en-US" sz="1400" b="1" dirty="0" err="1" smtClean="0">
                <a:solidFill>
                  <a:schemeClr val="accent3">
                    <a:lumMod val="40000"/>
                    <a:lumOff val="60000"/>
                  </a:schemeClr>
                </a:solidFill>
              </a:rPr>
              <a:t>Transportasi</a:t>
            </a:r>
            <a:endParaRPr lang="en-US" sz="1400" b="1" dirty="0" smtClean="0">
              <a:solidFill>
                <a:schemeClr val="accent3">
                  <a:lumMod val="40000"/>
                  <a:lumOff val="60000"/>
                </a:schemeClr>
              </a:solidFill>
            </a:endParaRPr>
          </a:p>
          <a:p>
            <a:pPr algn="r"/>
            <a:r>
              <a:rPr lang="en-US" sz="1400" b="1" dirty="0" smtClean="0">
                <a:solidFill>
                  <a:schemeClr val="accent3">
                    <a:lumMod val="40000"/>
                    <a:lumOff val="60000"/>
                  </a:schemeClr>
                </a:solidFill>
              </a:rPr>
              <a:t>Program </a:t>
            </a:r>
            <a:r>
              <a:rPr lang="en-US" sz="1400" b="1" dirty="0" err="1" smtClean="0">
                <a:solidFill>
                  <a:schemeClr val="accent3">
                    <a:lumMod val="40000"/>
                    <a:lumOff val="60000"/>
                  </a:schemeClr>
                </a:solidFill>
              </a:rPr>
              <a:t>Studi</a:t>
            </a:r>
            <a:r>
              <a:rPr lang="en-US" sz="1400" b="1" dirty="0" smtClean="0">
                <a:solidFill>
                  <a:schemeClr val="accent3">
                    <a:lumMod val="40000"/>
                    <a:lumOff val="60000"/>
                  </a:schemeClr>
                </a:solidFill>
              </a:rPr>
              <a:t> Magister </a:t>
            </a:r>
            <a:r>
              <a:rPr lang="en-US" sz="1400" b="1" dirty="0" err="1" smtClean="0">
                <a:solidFill>
                  <a:schemeClr val="accent3">
                    <a:lumMod val="40000"/>
                    <a:lumOff val="60000"/>
                  </a:schemeClr>
                </a:solidFill>
              </a:rPr>
              <a:t>Transportasi</a:t>
            </a:r>
            <a:endParaRPr lang="en-US" sz="1400" b="1" dirty="0" smtClean="0">
              <a:solidFill>
                <a:schemeClr val="accent3">
                  <a:lumMod val="40000"/>
                  <a:lumOff val="60000"/>
                </a:schemeClr>
              </a:solidFill>
            </a:endParaRPr>
          </a:p>
          <a:p>
            <a:pPr algn="r"/>
            <a:r>
              <a:rPr lang="en-US" sz="1400" b="1" dirty="0" err="1" smtClean="0">
                <a:solidFill>
                  <a:schemeClr val="accent3">
                    <a:lumMod val="40000"/>
                    <a:lumOff val="60000"/>
                  </a:schemeClr>
                </a:solidFill>
              </a:rPr>
              <a:t>Sekolah</a:t>
            </a:r>
            <a:r>
              <a:rPr lang="en-US" sz="1400" b="1" dirty="0" smtClean="0">
                <a:solidFill>
                  <a:schemeClr val="accent3">
                    <a:lumMod val="40000"/>
                    <a:lumOff val="60000"/>
                  </a:schemeClr>
                </a:solidFill>
              </a:rPr>
              <a:t> </a:t>
            </a:r>
            <a:r>
              <a:rPr lang="en-US" sz="1400" b="1" dirty="0" err="1" smtClean="0">
                <a:solidFill>
                  <a:schemeClr val="accent3">
                    <a:lumMod val="40000"/>
                    <a:lumOff val="60000"/>
                  </a:schemeClr>
                </a:solidFill>
              </a:rPr>
              <a:t>Arsitektur</a:t>
            </a:r>
            <a:r>
              <a:rPr lang="en-US" sz="1400" b="1" dirty="0" smtClean="0">
                <a:solidFill>
                  <a:schemeClr val="accent3">
                    <a:lumMod val="40000"/>
                    <a:lumOff val="60000"/>
                  </a:schemeClr>
                </a:solidFill>
              </a:rPr>
              <a:t>, </a:t>
            </a:r>
            <a:r>
              <a:rPr lang="en-US" sz="1400" b="1" dirty="0" err="1" smtClean="0">
                <a:solidFill>
                  <a:schemeClr val="accent3">
                    <a:lumMod val="40000"/>
                    <a:lumOff val="60000"/>
                  </a:schemeClr>
                </a:solidFill>
              </a:rPr>
              <a:t>Perencanaan</a:t>
            </a:r>
            <a:r>
              <a:rPr lang="en-US" sz="1400" b="1" dirty="0" smtClean="0">
                <a:solidFill>
                  <a:schemeClr val="accent3">
                    <a:lumMod val="40000"/>
                    <a:lumOff val="60000"/>
                  </a:schemeClr>
                </a:solidFill>
              </a:rPr>
              <a:t> </a:t>
            </a:r>
            <a:r>
              <a:rPr lang="en-US" sz="1400" b="1" dirty="0" err="1" smtClean="0">
                <a:solidFill>
                  <a:schemeClr val="accent3">
                    <a:lumMod val="40000"/>
                    <a:lumOff val="60000"/>
                  </a:schemeClr>
                </a:solidFill>
              </a:rPr>
              <a:t>dan</a:t>
            </a:r>
            <a:r>
              <a:rPr lang="en-US" sz="1400" b="1" dirty="0" smtClean="0">
                <a:solidFill>
                  <a:schemeClr val="accent3">
                    <a:lumMod val="40000"/>
                    <a:lumOff val="60000"/>
                  </a:schemeClr>
                </a:solidFill>
              </a:rPr>
              <a:t> </a:t>
            </a:r>
            <a:r>
              <a:rPr lang="en-US" sz="1400" b="1" dirty="0" err="1" smtClean="0">
                <a:solidFill>
                  <a:schemeClr val="accent3">
                    <a:lumMod val="40000"/>
                    <a:lumOff val="60000"/>
                  </a:schemeClr>
                </a:solidFill>
              </a:rPr>
              <a:t>Pengembangan</a:t>
            </a:r>
            <a:r>
              <a:rPr lang="en-US" sz="1400" b="1" dirty="0" smtClean="0">
                <a:solidFill>
                  <a:schemeClr val="accent3">
                    <a:lumMod val="40000"/>
                    <a:lumOff val="60000"/>
                  </a:schemeClr>
                </a:solidFill>
              </a:rPr>
              <a:t> Wilayah</a:t>
            </a:r>
          </a:p>
          <a:p>
            <a:pPr algn="r"/>
            <a:r>
              <a:rPr lang="en-US" sz="1400" b="1" dirty="0" err="1" smtClean="0">
                <a:solidFill>
                  <a:schemeClr val="accent3">
                    <a:lumMod val="40000"/>
                    <a:lumOff val="60000"/>
                  </a:schemeClr>
                </a:solidFill>
              </a:rPr>
              <a:t>Institut</a:t>
            </a:r>
            <a:r>
              <a:rPr lang="en-US" sz="1400" b="1" dirty="0" smtClean="0">
                <a:solidFill>
                  <a:schemeClr val="accent3">
                    <a:lumMod val="40000"/>
                    <a:lumOff val="60000"/>
                  </a:schemeClr>
                </a:solidFill>
              </a:rPr>
              <a:t> </a:t>
            </a:r>
            <a:r>
              <a:rPr lang="en-US" sz="1400" b="1" dirty="0" err="1" smtClean="0">
                <a:solidFill>
                  <a:schemeClr val="accent3">
                    <a:lumMod val="40000"/>
                    <a:lumOff val="60000"/>
                  </a:schemeClr>
                </a:solidFill>
              </a:rPr>
              <a:t>Teknologi</a:t>
            </a:r>
            <a:r>
              <a:rPr lang="en-US" sz="1400" b="1" dirty="0" smtClean="0">
                <a:solidFill>
                  <a:schemeClr val="accent3">
                    <a:lumMod val="40000"/>
                    <a:lumOff val="60000"/>
                  </a:schemeClr>
                </a:solidFill>
              </a:rPr>
              <a:t> Bandung</a:t>
            </a:r>
            <a:endParaRPr lang="en-US" sz="1400" b="1" dirty="0">
              <a:solidFill>
                <a:schemeClr val="accent3">
                  <a:lumMod val="40000"/>
                  <a:lumOff val="60000"/>
                </a:schemeClr>
              </a:solidFill>
            </a:endParaRPr>
          </a:p>
        </p:txBody>
      </p:sp>
      <p:cxnSp>
        <p:nvCxnSpPr>
          <p:cNvPr id="13" name="Straight Connector 12"/>
          <p:cNvCxnSpPr/>
          <p:nvPr userDrawn="1"/>
        </p:nvCxnSpPr>
        <p:spPr>
          <a:xfrm rot="5400000">
            <a:off x="7428706" y="723106"/>
            <a:ext cx="1143000" cy="1588"/>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14" name="Picture 13" descr="Logo-Institut-teknologi-Bandung4.png"/>
          <p:cNvPicPr>
            <a:picLocks noChangeAspect="1"/>
          </p:cNvPicPr>
          <p:nvPr userDrawn="1"/>
        </p:nvPicPr>
        <p:blipFill>
          <a:blip r:embed="rId2" cstate="print"/>
          <a:stretch>
            <a:fillRect/>
          </a:stretch>
        </p:blipFill>
        <p:spPr>
          <a:xfrm>
            <a:off x="7924800" y="228600"/>
            <a:ext cx="1062318" cy="1062318"/>
          </a:xfrm>
          <a:prstGeom prst="rect">
            <a:avLst/>
          </a:prstGeom>
        </p:spPr>
      </p:pic>
      <p:pic>
        <p:nvPicPr>
          <p:cNvPr id="7" name="Picture 6" descr="Transport.png"/>
          <p:cNvPicPr>
            <a:picLocks noChangeAspect="1"/>
          </p:cNvPicPr>
          <p:nvPr userDrawn="1"/>
        </p:nvPicPr>
        <p:blipFill>
          <a:blip r:embed="rId3"/>
          <a:stretch>
            <a:fillRect/>
          </a:stretch>
        </p:blipFill>
        <p:spPr>
          <a:xfrm>
            <a:off x="6629400" y="4572000"/>
            <a:ext cx="2514600" cy="2278857"/>
          </a:xfrm>
          <a:prstGeom prst="rect">
            <a:avLst/>
          </a:prstGeom>
          <a:noFill/>
          <a:ln>
            <a:noFill/>
          </a:ln>
        </p:spPr>
      </p:pic>
    </p:spTree>
  </p:cSld>
  <p:clrMapOvr>
    <a:masterClrMapping/>
  </p:clrMapOvr>
  <p:transition>
    <p:rand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228600"/>
            <a:ext cx="7696200" cy="1143000"/>
          </a:xfrm>
        </p:spPr>
        <p:txBody>
          <a:bodyPr/>
          <a:lstStyle>
            <a:lvl1pPr>
              <a:defRPr baseline="0">
                <a:solidFill>
                  <a:schemeClr val="bg2">
                    <a:lumMod val="50000"/>
                  </a:schemeClr>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buClr>
                <a:srgbClr val="FFCC00"/>
              </a:buClr>
              <a:buFont typeface="Wingdings" pitchFamily="2" charset="2"/>
              <a:buChar char="§"/>
              <a:defRPr baseline="0">
                <a:latin typeface="Segoe UI" pitchFamily="34" charset="0"/>
              </a:defRPr>
            </a:lvl1pPr>
            <a:lvl2pPr>
              <a:buClr>
                <a:srgbClr val="800000"/>
              </a:buClr>
              <a:buFont typeface="Wingdings" pitchFamily="2" charset="2"/>
              <a:buChar char="§"/>
              <a:defRPr baseline="0">
                <a:latin typeface="Segoe UI" pitchFamily="34" charset="0"/>
              </a:defRPr>
            </a:lvl2pPr>
            <a:lvl3pPr>
              <a:buClr>
                <a:schemeClr val="tx1">
                  <a:lumMod val="50000"/>
                  <a:lumOff val="50000"/>
                </a:schemeClr>
              </a:buClr>
              <a:buFont typeface="Wingdings" pitchFamily="2" charset="2"/>
              <a:buChar char="§"/>
              <a:defRPr baseline="0">
                <a:latin typeface="Segoe UI" pitchFamily="34" charset="0"/>
              </a:defRPr>
            </a:lvl3pPr>
            <a:lvl4pPr>
              <a:buFont typeface="Wingdings" pitchFamily="2" charset="2"/>
              <a:buChar char="§"/>
              <a:defRPr baseline="0">
                <a:latin typeface="Segoe UI" pitchFamily="34" charset="0"/>
              </a:defRPr>
            </a:lvl4pPr>
            <a:lvl5pPr>
              <a:buFont typeface="Wingdings" pitchFamily="2" charset="2"/>
              <a:buChar char="§"/>
              <a:defRPr baseline="0">
                <a:latin typeface="Segoe UI"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12"/>
          </p:nvPr>
        </p:nvSpPr>
        <p:spPr/>
        <p:txBody>
          <a:bodyPr/>
          <a:lstStyle/>
          <a:p>
            <a:fld id="{EF0C9E3C-19E5-4993-BF69-36C7277FC386}" type="slidenum">
              <a:rPr lang="en-US" smtClean="0"/>
              <a:pPr/>
              <a:t>‹#›</a:t>
            </a:fld>
            <a:endParaRPr lang="en-US" dirty="0"/>
          </a:p>
        </p:txBody>
      </p:sp>
      <p:sp>
        <p:nvSpPr>
          <p:cNvPr id="8" name="Date Placeholder 3"/>
          <p:cNvSpPr>
            <a:spLocks noGrp="1"/>
          </p:cNvSpPr>
          <p:nvPr>
            <p:ph type="dt" sz="half" idx="2"/>
          </p:nvPr>
        </p:nvSpPr>
        <p:spPr>
          <a:xfrm>
            <a:off x="3352800" y="6324600"/>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82879E81-151C-4769-9A48-B1A40D5CC74F}" type="datetime1">
              <a:rPr lang="en-US" smtClean="0"/>
              <a:pPr/>
              <a:t>8/29/17</a:t>
            </a:fld>
            <a:endParaRPr lang="en-US" dirty="0"/>
          </a:p>
        </p:txBody>
      </p:sp>
    </p:spTree>
  </p:cSld>
  <p:clrMapOvr>
    <a:masterClrMapping/>
  </p:clrMapOvr>
  <p:transition>
    <p:rand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6" name="Slide Number Placeholder 5"/>
          <p:cNvSpPr>
            <a:spLocks noGrp="1"/>
          </p:cNvSpPr>
          <p:nvPr>
            <p:ph type="sldNum" sz="quarter" idx="12"/>
          </p:nvPr>
        </p:nvSpPr>
        <p:spPr/>
        <p:txBody>
          <a:bodyPr/>
          <a:lstStyle/>
          <a:p>
            <a:fld id="{EF0C9E3C-19E5-4993-BF69-36C7277FC386}" type="slidenum">
              <a:rPr lang="en-US" smtClean="0"/>
              <a:pPr/>
              <a:t>‹#›</a:t>
            </a:fld>
            <a:endParaRPr lang="en-US"/>
          </a:p>
        </p:txBody>
      </p:sp>
      <p:sp>
        <p:nvSpPr>
          <p:cNvPr id="7" name="Date Placeholder 3"/>
          <p:cNvSpPr>
            <a:spLocks noGrp="1"/>
          </p:cNvSpPr>
          <p:nvPr>
            <p:ph type="dt" sz="half" idx="2"/>
          </p:nvPr>
        </p:nvSpPr>
        <p:spPr>
          <a:xfrm>
            <a:off x="3352800" y="6324600"/>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476BB42F-FEEF-467B-A1D6-2181BF7B29AB}" type="datetime1">
              <a:rPr lang="en-US" smtClean="0"/>
              <a:pPr/>
              <a:t>8/29/17</a:t>
            </a:fld>
            <a:endParaRPr lang="en-US"/>
          </a:p>
        </p:txBody>
      </p:sp>
      <p:pic>
        <p:nvPicPr>
          <p:cNvPr id="8" name="Picture 7" descr="Transport.png"/>
          <p:cNvPicPr>
            <a:picLocks noChangeAspect="1"/>
          </p:cNvPicPr>
          <p:nvPr userDrawn="1"/>
        </p:nvPicPr>
        <p:blipFill>
          <a:blip r:embed="rId2"/>
          <a:stretch>
            <a:fillRect/>
          </a:stretch>
        </p:blipFill>
        <p:spPr>
          <a:xfrm>
            <a:off x="6629400" y="4572000"/>
            <a:ext cx="2514600" cy="2278857"/>
          </a:xfrm>
          <a:prstGeom prst="rect">
            <a:avLst/>
          </a:prstGeom>
          <a:noFill/>
          <a:ln>
            <a:noFill/>
          </a:ln>
        </p:spPr>
      </p:pic>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2"/>
          </p:nvPr>
        </p:nvSpPr>
        <p:spPr/>
        <p:txBody>
          <a:bodyPr/>
          <a:lstStyle/>
          <a:p>
            <a:fld id="{EF0C9E3C-19E5-4993-BF69-36C7277FC386}" type="slidenum">
              <a:rPr lang="en-US" smtClean="0"/>
              <a:pPr/>
              <a:t>‹#›</a:t>
            </a:fld>
            <a:endParaRPr lang="en-US"/>
          </a:p>
        </p:txBody>
      </p:sp>
      <p:sp>
        <p:nvSpPr>
          <p:cNvPr id="8" name="Date Placeholder 3"/>
          <p:cNvSpPr>
            <a:spLocks noGrp="1"/>
          </p:cNvSpPr>
          <p:nvPr>
            <p:ph type="dt" sz="half" idx="13"/>
          </p:nvPr>
        </p:nvSpPr>
        <p:spPr>
          <a:xfrm>
            <a:off x="3352800" y="6324600"/>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F11546F5-1B07-4EC5-BF3A-6BE3782463BB}" type="datetime1">
              <a:rPr lang="en-US" smtClean="0"/>
              <a:pPr/>
              <a:t>8/29/17</a:t>
            </a:fld>
            <a:endParaRPr lang="en-US"/>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8"/>
          <p:cNvSpPr>
            <a:spLocks noGrp="1"/>
          </p:cNvSpPr>
          <p:nvPr>
            <p:ph type="sldNum" sz="quarter" idx="12"/>
          </p:nvPr>
        </p:nvSpPr>
        <p:spPr/>
        <p:txBody>
          <a:bodyPr/>
          <a:lstStyle/>
          <a:p>
            <a:fld id="{EF0C9E3C-19E5-4993-BF69-36C7277FC386}" type="slidenum">
              <a:rPr lang="en-US" smtClean="0"/>
              <a:pPr/>
              <a:t>‹#›</a:t>
            </a:fld>
            <a:endParaRPr lang="en-US"/>
          </a:p>
        </p:txBody>
      </p:sp>
      <p:sp>
        <p:nvSpPr>
          <p:cNvPr id="10" name="Date Placeholder 3"/>
          <p:cNvSpPr>
            <a:spLocks noGrp="1"/>
          </p:cNvSpPr>
          <p:nvPr>
            <p:ph type="dt" sz="half" idx="13"/>
          </p:nvPr>
        </p:nvSpPr>
        <p:spPr>
          <a:xfrm>
            <a:off x="3352800" y="6324600"/>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8D1A769D-B9F3-4DF7-8EA1-51A8168A6B6B}" type="datetime1">
              <a:rPr lang="en-US" smtClean="0"/>
              <a:pPr/>
              <a:t>8/29/17</a:t>
            </a:fld>
            <a:endParaRPr lang="en-US"/>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p:txBody>
          <a:bodyPr/>
          <a:lstStyle/>
          <a:p>
            <a:fld id="{EF0C9E3C-19E5-4993-BF69-36C7277FC386}" type="slidenum">
              <a:rPr lang="en-US" smtClean="0"/>
              <a:pPr/>
              <a:t>‹#›</a:t>
            </a:fld>
            <a:endParaRPr lang="en-US"/>
          </a:p>
        </p:txBody>
      </p:sp>
      <p:sp>
        <p:nvSpPr>
          <p:cNvPr id="6" name="Date Placeholder 3"/>
          <p:cNvSpPr>
            <a:spLocks noGrp="1"/>
          </p:cNvSpPr>
          <p:nvPr>
            <p:ph type="dt" sz="half" idx="2"/>
          </p:nvPr>
        </p:nvSpPr>
        <p:spPr>
          <a:xfrm>
            <a:off x="3352800" y="6324600"/>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368D481A-16EB-4302-84C8-5807A6F68979}" type="datetime1">
              <a:rPr lang="en-US" smtClean="0"/>
              <a:pPr/>
              <a:t>8/29/17</a:t>
            </a:fld>
            <a:endParaRPr lang="en-US"/>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0C9E3C-19E5-4993-BF69-36C7277FC386}" type="slidenum">
              <a:rPr lang="en-US" smtClean="0"/>
              <a:pPr/>
              <a:t>‹#›</a:t>
            </a:fld>
            <a:endParaRPr lang="en-US"/>
          </a:p>
        </p:txBody>
      </p:sp>
      <p:sp>
        <p:nvSpPr>
          <p:cNvPr id="5" name="Date Placeholder 3"/>
          <p:cNvSpPr>
            <a:spLocks noGrp="1"/>
          </p:cNvSpPr>
          <p:nvPr>
            <p:ph type="dt" sz="half" idx="2"/>
          </p:nvPr>
        </p:nvSpPr>
        <p:spPr>
          <a:xfrm>
            <a:off x="3352800" y="6324600"/>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ED557D58-94B1-4ED6-8427-18CDDAE9B2DD}" type="datetime1">
              <a:rPr lang="en-US" smtClean="0"/>
              <a:pPr/>
              <a:t>8/29/17</a:t>
            </a:fld>
            <a:endParaRPr lang="en-US"/>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Slide Number Placeholder 6"/>
          <p:cNvSpPr>
            <a:spLocks noGrp="1"/>
          </p:cNvSpPr>
          <p:nvPr>
            <p:ph type="sldNum" sz="quarter" idx="12"/>
          </p:nvPr>
        </p:nvSpPr>
        <p:spPr/>
        <p:txBody>
          <a:bodyPr/>
          <a:lstStyle/>
          <a:p>
            <a:fld id="{EF0C9E3C-19E5-4993-BF69-36C7277FC386}" type="slidenum">
              <a:rPr lang="en-US" smtClean="0"/>
              <a:pPr/>
              <a:t>‹#›</a:t>
            </a:fld>
            <a:endParaRPr lang="en-US"/>
          </a:p>
        </p:txBody>
      </p:sp>
      <p:sp>
        <p:nvSpPr>
          <p:cNvPr id="8" name="Date Placeholder 3"/>
          <p:cNvSpPr>
            <a:spLocks noGrp="1"/>
          </p:cNvSpPr>
          <p:nvPr>
            <p:ph type="dt" sz="half" idx="13"/>
          </p:nvPr>
        </p:nvSpPr>
        <p:spPr>
          <a:xfrm>
            <a:off x="3352800" y="6324600"/>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16376971-210D-4E94-8D0E-AC948B1C2639}" type="datetime1">
              <a:rPr lang="en-US" smtClean="0"/>
              <a:pPr/>
              <a:t>8/29/17</a:t>
            </a:fld>
            <a:endParaRPr lang="en-US"/>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Slide Number Placeholder 6"/>
          <p:cNvSpPr>
            <a:spLocks noGrp="1"/>
          </p:cNvSpPr>
          <p:nvPr>
            <p:ph type="sldNum" sz="quarter" idx="12"/>
          </p:nvPr>
        </p:nvSpPr>
        <p:spPr/>
        <p:txBody>
          <a:bodyPr/>
          <a:lstStyle/>
          <a:p>
            <a:fld id="{EF0C9E3C-19E5-4993-BF69-36C7277FC386}" type="slidenum">
              <a:rPr lang="en-US" smtClean="0"/>
              <a:pPr/>
              <a:t>‹#›</a:t>
            </a:fld>
            <a:endParaRPr lang="en-US"/>
          </a:p>
        </p:txBody>
      </p:sp>
      <p:sp>
        <p:nvSpPr>
          <p:cNvPr id="8" name="Date Placeholder 3"/>
          <p:cNvSpPr>
            <a:spLocks noGrp="1"/>
          </p:cNvSpPr>
          <p:nvPr>
            <p:ph type="dt" sz="half" idx="13"/>
          </p:nvPr>
        </p:nvSpPr>
        <p:spPr>
          <a:xfrm>
            <a:off x="3352800" y="6324600"/>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D6180D9C-F82A-419F-915B-AC535F4EAD14}" type="datetime1">
              <a:rPr lang="en-US" smtClean="0"/>
              <a:pPr/>
              <a:t>8/29/17</a:t>
            </a:fld>
            <a:endParaRPr lang="en-US"/>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p:txBody>
          <a:bodyPr/>
          <a:lstStyle/>
          <a:p>
            <a:fld id="{EF0C9E3C-19E5-4993-BF69-36C7277FC386}" type="slidenum">
              <a:rPr lang="en-US" smtClean="0"/>
              <a:pPr/>
              <a:t>‹#›</a:t>
            </a:fld>
            <a:endParaRPr lang="en-US"/>
          </a:p>
        </p:txBody>
      </p:sp>
      <p:sp>
        <p:nvSpPr>
          <p:cNvPr id="7" name="Date Placeholder 3"/>
          <p:cNvSpPr>
            <a:spLocks noGrp="1"/>
          </p:cNvSpPr>
          <p:nvPr>
            <p:ph type="dt" sz="half" idx="2"/>
          </p:nvPr>
        </p:nvSpPr>
        <p:spPr>
          <a:xfrm>
            <a:off x="3352800" y="6324600"/>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885EA6AF-E5E2-4E35-8746-111B963AEC0A}" type="datetime1">
              <a:rPr lang="en-US" smtClean="0"/>
              <a:pPr/>
              <a:t>8/29/17</a:t>
            </a:fld>
            <a:endParaRPr lang="en-US"/>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p:txBody>
          <a:bodyPr/>
          <a:lstStyle/>
          <a:p>
            <a:fld id="{EF0C9E3C-19E5-4993-BF69-36C7277FC386}" type="slidenum">
              <a:rPr lang="en-US" smtClean="0"/>
              <a:pPr/>
              <a:t>‹#›</a:t>
            </a:fld>
            <a:endParaRPr lang="en-US"/>
          </a:p>
        </p:txBody>
      </p:sp>
      <p:sp>
        <p:nvSpPr>
          <p:cNvPr id="7" name="Date Placeholder 3"/>
          <p:cNvSpPr>
            <a:spLocks noGrp="1"/>
          </p:cNvSpPr>
          <p:nvPr>
            <p:ph type="dt" sz="half" idx="2"/>
          </p:nvPr>
        </p:nvSpPr>
        <p:spPr>
          <a:xfrm>
            <a:off x="3352800" y="6324600"/>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447B7056-8E50-400F-900B-2344D9B8B22E}" type="datetime1">
              <a:rPr lang="en-US" smtClean="0"/>
              <a:pPr/>
              <a:t>8/29/17</a:t>
            </a:fld>
            <a:endParaRPr lang="en-US"/>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Rectangle 12"/>
          <p:cNvSpPr/>
          <p:nvPr userDrawn="1"/>
        </p:nvSpPr>
        <p:spPr>
          <a:xfrm>
            <a:off x="0" y="0"/>
            <a:ext cx="1143000" cy="152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p:cNvGrpSpPr/>
          <p:nvPr userDrawn="1"/>
        </p:nvGrpSpPr>
        <p:grpSpPr>
          <a:xfrm>
            <a:off x="838199" y="0"/>
            <a:ext cx="8305801" cy="1524000"/>
            <a:chOff x="838199" y="0"/>
            <a:chExt cx="8305801" cy="1524000"/>
          </a:xfrm>
        </p:grpSpPr>
        <p:sp>
          <p:nvSpPr>
            <p:cNvPr id="14" name="Rectangle 13"/>
            <p:cNvSpPr/>
            <p:nvPr userDrawn="1"/>
          </p:nvSpPr>
          <p:spPr>
            <a:xfrm>
              <a:off x="1129553" y="0"/>
              <a:ext cx="8014447" cy="1524000"/>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userDrawn="1"/>
          </p:nvSpPr>
          <p:spPr>
            <a:xfrm>
              <a:off x="838199" y="533400"/>
              <a:ext cx="533401" cy="533400"/>
            </a:xfrm>
            <a:prstGeom prst="ellipse">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Placeholder 1"/>
          <p:cNvSpPr>
            <a:spLocks noGrp="1"/>
          </p:cNvSpPr>
          <p:nvPr userDrawn="1">
            <p:ph type="title"/>
          </p:nvPr>
        </p:nvSpPr>
        <p:spPr>
          <a:xfrm>
            <a:off x="228600" y="228600"/>
            <a:ext cx="86868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userDrawn="1">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userDrawn="1">
            <p:ph type="sldNum" sz="quarter" idx="4"/>
          </p:nvPr>
        </p:nvSpPr>
        <p:spPr>
          <a:xfrm>
            <a:off x="0" y="6492875"/>
            <a:ext cx="15240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0C9E3C-19E5-4993-BF69-36C7277FC386}" type="slidenum">
              <a:rPr lang="en-US" smtClean="0"/>
              <a:pPr/>
              <a:t>‹#›</a:t>
            </a:fld>
            <a:endParaRPr lang="en-US" dirty="0"/>
          </a:p>
        </p:txBody>
      </p:sp>
      <p:pic>
        <p:nvPicPr>
          <p:cNvPr id="12" name="Picture 11" descr="multimodal-transport.jpg"/>
          <p:cNvPicPr>
            <a:picLocks noChangeAspect="1"/>
          </p:cNvPicPr>
          <p:nvPr userDrawn="1"/>
        </p:nvPicPr>
        <p:blipFill>
          <a:blip r:embed="rId13" cstate="print"/>
          <a:stretch>
            <a:fillRect/>
          </a:stretch>
        </p:blipFill>
        <p:spPr>
          <a:xfrm>
            <a:off x="6970018" y="6172199"/>
            <a:ext cx="2173982" cy="68579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timing>
    <p:tnLst>
      <p:par>
        <p:cTn id="1" dur="indefinite" restart="never" nodeType="tmRoot"/>
      </p:par>
    </p:tnLst>
  </p:timing>
  <p:hf hdr="0" dt="0"/>
  <p:txStyles>
    <p:titleStyle>
      <a:lvl1pPr algn="ctr" defTabSz="914400" rtl="0" eaLnBrk="1" latinLnBrk="0" hangingPunct="1">
        <a:spcBef>
          <a:spcPct val="0"/>
        </a:spcBef>
        <a:buNone/>
        <a:defRPr sz="4400" kern="1200">
          <a:solidFill>
            <a:schemeClr val="tx1"/>
          </a:solidFill>
          <a:latin typeface="Segoe UI" pitchFamily="34" charset="0"/>
          <a:ea typeface="+mj-ea"/>
          <a:cs typeface="Segoe UI"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References/Video/Transportation%20System%20Ecology.mp4" TargetMode="Externa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References/Video/Transportation-%20A%20New%20Vision%20for%20the%2021st%20Century.mp4" TargetMode="External"/><Relationship Id="rId3"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63825"/>
            <a:ext cx="7772400" cy="1470025"/>
          </a:xfrm>
        </p:spPr>
        <p:txBody>
          <a:bodyPr/>
          <a:lstStyle/>
          <a:p>
            <a:r>
              <a:rPr lang="en-US" dirty="0" smtClean="0"/>
              <a:t>TOTAL TRANSPORTATION SYSTEM</a:t>
            </a:r>
            <a:endParaRPr lang="en-US" dirty="0"/>
          </a:p>
        </p:txBody>
      </p:sp>
      <p:sp>
        <p:nvSpPr>
          <p:cNvPr id="3" name="Subtitle 2"/>
          <p:cNvSpPr>
            <a:spLocks noGrp="1"/>
          </p:cNvSpPr>
          <p:nvPr>
            <p:ph type="subTitle" idx="1"/>
          </p:nvPr>
        </p:nvSpPr>
        <p:spPr>
          <a:xfrm>
            <a:off x="1371600" y="4114800"/>
            <a:ext cx="6400800" cy="685800"/>
          </a:xfrm>
        </p:spPr>
        <p:txBody>
          <a:bodyPr/>
          <a:lstStyle/>
          <a:p>
            <a:r>
              <a:rPr lang="en-US" dirty="0" smtClean="0"/>
              <a:t>An Introduction</a:t>
            </a:r>
            <a:endParaRPr lang="en-US" dirty="0"/>
          </a:p>
        </p:txBody>
      </p:sp>
    </p:spTree>
  </p:cSld>
  <p:clrMapOvr>
    <a:masterClrMapping/>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28600"/>
            <a:ext cx="7696200" cy="1143000"/>
          </a:xfrm>
        </p:spPr>
        <p:txBody>
          <a:bodyPr>
            <a:noAutofit/>
          </a:bodyPr>
          <a:lstStyle/>
          <a:p>
            <a:pPr marL="0" indent="0" algn="l"/>
            <a:r>
              <a:rPr lang="en-US" sz="2800" dirty="0" smtClean="0">
                <a:solidFill>
                  <a:schemeClr val="bg1"/>
                </a:solidFill>
              </a:rPr>
              <a:t>Transportation is (everything involved in) the action of moving either </a:t>
            </a:r>
            <a:r>
              <a:rPr lang="en-US" sz="2800" b="1" dirty="0" smtClean="0">
                <a:solidFill>
                  <a:schemeClr val="bg1"/>
                </a:solidFill>
              </a:rPr>
              <a:t>people </a:t>
            </a:r>
            <a:r>
              <a:rPr lang="en-US" sz="2800" dirty="0" smtClean="0">
                <a:solidFill>
                  <a:schemeClr val="bg1"/>
                </a:solidFill>
              </a:rPr>
              <a:t>or goods from an origin to a destination.</a:t>
            </a:r>
          </a:p>
        </p:txBody>
      </p:sp>
      <p:pic>
        <p:nvPicPr>
          <p:cNvPr id="4" name="Picture 3" descr="trip chaining.png"/>
          <p:cNvPicPr>
            <a:picLocks noChangeAspect="1"/>
          </p:cNvPicPr>
          <p:nvPr/>
        </p:nvPicPr>
        <p:blipFill>
          <a:blip r:embed="rId2"/>
          <a:stretch>
            <a:fillRect/>
          </a:stretch>
        </p:blipFill>
        <p:spPr>
          <a:xfrm>
            <a:off x="1066800" y="1981200"/>
            <a:ext cx="7313012" cy="3648344"/>
          </a:xfrm>
          <a:prstGeom prst="rect">
            <a:avLst/>
          </a:prstGeom>
        </p:spPr>
      </p:pic>
    </p:spTree>
    <p:extLst>
      <p:ext uri="{BB962C8B-B14F-4D97-AF65-F5344CB8AC3E}">
        <p14:creationId xmlns:p14="http://schemas.microsoft.com/office/powerpoint/2010/main" val="2607145839"/>
      </p:ext>
    </p:extLst>
  </p:cSld>
  <p:clrMapOvr>
    <a:masterClrMapping/>
  </p:clrMapOvr>
  <p:transition>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28600"/>
            <a:ext cx="7696200" cy="1143000"/>
          </a:xfrm>
        </p:spPr>
        <p:txBody>
          <a:bodyPr>
            <a:noAutofit/>
          </a:bodyPr>
          <a:lstStyle/>
          <a:p>
            <a:pPr marL="0" indent="0" algn="l"/>
            <a:r>
              <a:rPr lang="en-US" sz="2800" dirty="0" smtClean="0">
                <a:solidFill>
                  <a:schemeClr val="bg1"/>
                </a:solidFill>
              </a:rPr>
              <a:t>Transportation is (everything involved in) the action of moving either people or </a:t>
            </a:r>
            <a:r>
              <a:rPr lang="en-US" sz="2800" b="1" dirty="0" smtClean="0">
                <a:solidFill>
                  <a:schemeClr val="bg1"/>
                </a:solidFill>
              </a:rPr>
              <a:t>goods</a:t>
            </a:r>
            <a:r>
              <a:rPr lang="en-US" sz="2800" dirty="0" smtClean="0">
                <a:solidFill>
                  <a:schemeClr val="bg1"/>
                </a:solidFill>
              </a:rPr>
              <a:t> from an origin to a destination.</a:t>
            </a:r>
          </a:p>
        </p:txBody>
      </p:sp>
      <p:pic>
        <p:nvPicPr>
          <p:cNvPr id="5" name="Picture 4" descr="CN-Freight-Forwarding-Horiz-en.jpg"/>
          <p:cNvPicPr>
            <a:picLocks noChangeAspect="1"/>
          </p:cNvPicPr>
          <p:nvPr/>
        </p:nvPicPr>
        <p:blipFill>
          <a:blip r:embed="rId2"/>
          <a:stretch>
            <a:fillRect/>
          </a:stretch>
        </p:blipFill>
        <p:spPr>
          <a:xfrm>
            <a:off x="47625" y="2209800"/>
            <a:ext cx="9048750" cy="2895600"/>
          </a:xfrm>
          <a:prstGeom prst="rect">
            <a:avLst/>
          </a:prstGeom>
        </p:spPr>
      </p:pic>
    </p:spTree>
    <p:extLst>
      <p:ext uri="{BB962C8B-B14F-4D97-AF65-F5344CB8AC3E}">
        <p14:creationId xmlns:p14="http://schemas.microsoft.com/office/powerpoint/2010/main" val="2607145839"/>
      </p:ext>
    </p:extLst>
  </p:cSld>
  <p:clrMapOvr>
    <a:masterClrMapping/>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52400"/>
            <a:ext cx="7696200" cy="1143000"/>
          </a:xfrm>
        </p:spPr>
        <p:txBody>
          <a:bodyPr>
            <a:noAutofit/>
          </a:bodyPr>
          <a:lstStyle/>
          <a:p>
            <a:pPr algn="l"/>
            <a:r>
              <a:rPr lang="en-US" sz="2800" dirty="0" smtClean="0">
                <a:solidFill>
                  <a:schemeClr val="bg1"/>
                </a:solidFill>
              </a:rPr>
              <a:t>Transportation is complex in nature, covering </a:t>
            </a:r>
            <a:r>
              <a:rPr lang="en-US" sz="2800" b="1" dirty="0" smtClean="0">
                <a:solidFill>
                  <a:schemeClr val="bg1"/>
                </a:solidFill>
              </a:rPr>
              <a:t>multi-modal</a:t>
            </a:r>
            <a:r>
              <a:rPr lang="en-US" sz="2800" dirty="0" smtClean="0">
                <a:solidFill>
                  <a:schemeClr val="bg1"/>
                </a:solidFill>
              </a:rPr>
              <a:t>, </a:t>
            </a:r>
            <a:r>
              <a:rPr lang="en-US" sz="2800" b="1" dirty="0" smtClean="0">
                <a:solidFill>
                  <a:schemeClr val="bg1"/>
                </a:solidFill>
              </a:rPr>
              <a:t>multi-sector</a:t>
            </a:r>
            <a:r>
              <a:rPr lang="en-US" sz="2800" dirty="0" smtClean="0">
                <a:solidFill>
                  <a:schemeClr val="bg1"/>
                </a:solidFill>
              </a:rPr>
              <a:t>, </a:t>
            </a:r>
            <a:r>
              <a:rPr lang="en-US" sz="2800" b="1" dirty="0" smtClean="0">
                <a:solidFill>
                  <a:schemeClr val="bg1"/>
                </a:solidFill>
              </a:rPr>
              <a:t>multi-problem</a:t>
            </a:r>
            <a:r>
              <a:rPr lang="en-US" sz="2800" dirty="0" smtClean="0">
                <a:solidFill>
                  <a:schemeClr val="bg1"/>
                </a:solidFill>
              </a:rPr>
              <a:t> ..</a:t>
            </a:r>
            <a:endParaRPr lang="en-US" sz="2800" dirty="0">
              <a:solidFill>
                <a:schemeClr val="bg1"/>
              </a:solidFill>
            </a:endParaRPr>
          </a:p>
        </p:txBody>
      </p:sp>
      <p:sp>
        <p:nvSpPr>
          <p:cNvPr id="3" name="Content Placeholder 2"/>
          <p:cNvSpPr>
            <a:spLocks noGrp="1"/>
          </p:cNvSpPr>
          <p:nvPr>
            <p:ph idx="1"/>
          </p:nvPr>
        </p:nvSpPr>
        <p:spPr>
          <a:xfrm>
            <a:off x="533400" y="1905000"/>
            <a:ext cx="8229600" cy="3840163"/>
          </a:xfrm>
        </p:spPr>
        <p:txBody>
          <a:bodyPr>
            <a:normAutofit fontScale="70000" lnSpcReduction="20000"/>
          </a:bodyPr>
          <a:lstStyle/>
          <a:p>
            <a:r>
              <a:rPr lang="en-US" b="1" dirty="0" smtClean="0"/>
              <a:t>Multi-modal:</a:t>
            </a:r>
            <a:r>
              <a:rPr lang="en-US" dirty="0" smtClean="0"/>
              <a:t> covering </a:t>
            </a:r>
            <a:r>
              <a:rPr lang="en-US" b="1" dirty="0" smtClean="0">
                <a:solidFill>
                  <a:srgbClr val="C00000"/>
                </a:solidFill>
              </a:rPr>
              <a:t>all modes </a:t>
            </a:r>
            <a:r>
              <a:rPr lang="en-US" dirty="0" smtClean="0"/>
              <a:t>of transport </a:t>
            </a:r>
            <a:r>
              <a:rPr lang="en-US" dirty="0" smtClean="0">
                <a:sym typeface="Wingdings"/>
              </a:rPr>
              <a:t> air, land, and sea; passenger and freight</a:t>
            </a:r>
          </a:p>
          <a:p>
            <a:pPr>
              <a:buNone/>
            </a:pPr>
            <a:endParaRPr lang="en-US" dirty="0" smtClean="0">
              <a:sym typeface="Wingdings"/>
            </a:endParaRPr>
          </a:p>
          <a:p>
            <a:r>
              <a:rPr lang="en-US" b="1" dirty="0" smtClean="0">
                <a:sym typeface="Wingdings"/>
              </a:rPr>
              <a:t>Multi-sector:</a:t>
            </a:r>
            <a:r>
              <a:rPr lang="en-US" dirty="0" smtClean="0">
                <a:sym typeface="Wingdings"/>
              </a:rPr>
              <a:t> encompassing the problems and viewpoints of </a:t>
            </a:r>
            <a:r>
              <a:rPr lang="en-US" b="1" dirty="0" smtClean="0">
                <a:solidFill>
                  <a:srgbClr val="C00000"/>
                </a:solidFill>
                <a:sym typeface="Wingdings"/>
              </a:rPr>
              <a:t>government, private industry, and public</a:t>
            </a:r>
          </a:p>
          <a:p>
            <a:pPr>
              <a:buNone/>
            </a:pPr>
            <a:endParaRPr lang="en-US" dirty="0" smtClean="0">
              <a:sym typeface="Wingdings"/>
            </a:endParaRPr>
          </a:p>
          <a:p>
            <a:r>
              <a:rPr lang="en-US" b="1" dirty="0" smtClean="0">
                <a:sym typeface="Wingdings"/>
              </a:rPr>
              <a:t>Multi-problem: </a:t>
            </a:r>
            <a:r>
              <a:rPr lang="en-US" dirty="0" smtClean="0">
                <a:sym typeface="Wingdings"/>
              </a:rPr>
              <a:t>ranging across </a:t>
            </a:r>
            <a:r>
              <a:rPr lang="en-US" b="1" dirty="0" smtClean="0">
                <a:solidFill>
                  <a:srgbClr val="C00000"/>
                </a:solidFill>
                <a:sym typeface="Wingdings"/>
              </a:rPr>
              <a:t>a spectrum of issues </a:t>
            </a:r>
            <a:r>
              <a:rPr lang="en-US" dirty="0" smtClean="0">
                <a:sym typeface="Wingdings"/>
              </a:rPr>
              <a:t>that includes national and international policy, planning of regional system, the location and design of specific facilities, carrier management issues, regulatory, institutional and financial policies.</a:t>
            </a:r>
            <a:endParaRPr lang="en-US" dirty="0"/>
          </a:p>
        </p:txBody>
      </p:sp>
      <p:sp>
        <p:nvSpPr>
          <p:cNvPr id="5" name="TextBox 4"/>
          <p:cNvSpPr txBox="1"/>
          <p:nvPr/>
        </p:nvSpPr>
        <p:spPr>
          <a:xfrm>
            <a:off x="3733800" y="6336268"/>
            <a:ext cx="1736022" cy="369332"/>
          </a:xfrm>
          <a:prstGeom prst="rect">
            <a:avLst/>
          </a:prstGeom>
          <a:noFill/>
        </p:spPr>
        <p:txBody>
          <a:bodyPr wrap="none" rtlCol="0">
            <a:spAutoFit/>
          </a:bodyPr>
          <a:lstStyle/>
          <a:p>
            <a:pPr algn="r"/>
            <a:r>
              <a:rPr lang="en-US" dirty="0" smtClean="0"/>
              <a:t>Manheim, 1979</a:t>
            </a:r>
            <a:endParaRPr lang="en-US" dirty="0"/>
          </a:p>
        </p:txBody>
      </p:sp>
    </p:spTree>
    <p:extLst>
      <p:ext uri="{BB962C8B-B14F-4D97-AF65-F5344CB8AC3E}">
        <p14:creationId xmlns:p14="http://schemas.microsoft.com/office/powerpoint/2010/main" val="74497059"/>
      </p:ext>
    </p:extLst>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2057400"/>
            <a:ext cx="8229600" cy="3657600"/>
          </a:xfrm>
        </p:spPr>
        <p:txBody>
          <a:bodyPr>
            <a:normAutofit lnSpcReduction="10000"/>
          </a:bodyPr>
          <a:lstStyle/>
          <a:p>
            <a:r>
              <a:rPr lang="en-US" sz="2500" b="1" dirty="0" smtClean="0"/>
              <a:t>Multi-objective</a:t>
            </a:r>
            <a:r>
              <a:rPr lang="en-US" sz="2500" dirty="0" smtClean="0"/>
              <a:t>: national and regional economic development, urban development, environment quality, social quality, service to users, financial and economic feasibility.</a:t>
            </a:r>
          </a:p>
          <a:p>
            <a:pPr>
              <a:buNone/>
            </a:pPr>
            <a:endParaRPr lang="en-US" sz="2500" dirty="0" smtClean="0"/>
          </a:p>
          <a:p>
            <a:r>
              <a:rPr lang="en-US" sz="2500" b="1" dirty="0" smtClean="0"/>
              <a:t>Multi-disciplinary</a:t>
            </a:r>
            <a:r>
              <a:rPr lang="en-US" sz="2500" dirty="0" smtClean="0"/>
              <a:t>: drawing on the theories and methods of engineering, economics, operation research, political science, psychology, other natural and social sciences, management and law.</a:t>
            </a:r>
            <a:endParaRPr lang="en-US" sz="2500" dirty="0"/>
          </a:p>
        </p:txBody>
      </p:sp>
      <p:sp>
        <p:nvSpPr>
          <p:cNvPr id="6" name="Title 1"/>
          <p:cNvSpPr txBox="1">
            <a:spLocks/>
          </p:cNvSpPr>
          <p:nvPr/>
        </p:nvSpPr>
        <p:spPr>
          <a:xfrm>
            <a:off x="1371600" y="152400"/>
            <a:ext cx="7696200" cy="11430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smtClean="0">
                <a:ln>
                  <a:noFill/>
                </a:ln>
                <a:solidFill>
                  <a:schemeClr val="bg1"/>
                </a:solidFill>
                <a:effectLst/>
                <a:uLnTx/>
                <a:uFillTx/>
                <a:latin typeface="Segoe UI" pitchFamily="34" charset="0"/>
                <a:ea typeface="+mj-ea"/>
                <a:cs typeface="Segoe UI" pitchFamily="34" charset="0"/>
              </a:rPr>
              <a:t>.. and, therefore,</a:t>
            </a:r>
            <a:r>
              <a:rPr kumimoji="0" lang="en-US" sz="2800" b="0" i="0" u="none" strike="noStrike" kern="1200" cap="none" spc="0" normalizeH="0" noProof="0" dirty="0" smtClean="0">
                <a:ln>
                  <a:noFill/>
                </a:ln>
                <a:solidFill>
                  <a:schemeClr val="bg1"/>
                </a:solidFill>
                <a:effectLst/>
                <a:uLnTx/>
                <a:uFillTx/>
                <a:latin typeface="Segoe UI" pitchFamily="34" charset="0"/>
                <a:ea typeface="+mj-ea"/>
                <a:cs typeface="Segoe UI" pitchFamily="34" charset="0"/>
              </a:rPr>
              <a:t> dealing with </a:t>
            </a:r>
            <a:r>
              <a:rPr kumimoji="0" lang="en-US" sz="2800" b="1" i="0" u="none" strike="noStrike" kern="1200" cap="none" spc="0" normalizeH="0" noProof="0" dirty="0" smtClean="0">
                <a:ln>
                  <a:noFill/>
                </a:ln>
                <a:solidFill>
                  <a:schemeClr val="bg1"/>
                </a:solidFill>
                <a:effectLst/>
                <a:uLnTx/>
                <a:uFillTx/>
                <a:latin typeface="Segoe UI" pitchFamily="34" charset="0"/>
                <a:ea typeface="+mj-ea"/>
                <a:cs typeface="Segoe UI" pitchFamily="34" charset="0"/>
              </a:rPr>
              <a:t>multi-objective </a:t>
            </a:r>
            <a:r>
              <a:rPr kumimoji="0" lang="en-US" sz="2800" b="0" i="0" u="none" strike="noStrike" kern="1200" cap="none" spc="0" normalizeH="0" noProof="0" dirty="0" smtClean="0">
                <a:ln>
                  <a:noFill/>
                </a:ln>
                <a:solidFill>
                  <a:schemeClr val="bg1"/>
                </a:solidFill>
                <a:effectLst/>
                <a:uLnTx/>
                <a:uFillTx/>
                <a:latin typeface="Segoe UI" pitchFamily="34" charset="0"/>
                <a:ea typeface="+mj-ea"/>
                <a:cs typeface="Segoe UI" pitchFamily="34" charset="0"/>
              </a:rPr>
              <a:t>and requiring </a:t>
            </a:r>
            <a:r>
              <a:rPr kumimoji="0" lang="en-US" sz="2800" b="1" i="0" u="none" strike="noStrike" kern="1200" cap="none" spc="0" normalizeH="0" noProof="0" dirty="0" smtClean="0">
                <a:ln>
                  <a:noFill/>
                </a:ln>
                <a:solidFill>
                  <a:schemeClr val="bg1"/>
                </a:solidFill>
                <a:effectLst/>
                <a:uLnTx/>
                <a:uFillTx/>
                <a:latin typeface="Segoe UI" pitchFamily="34" charset="0"/>
                <a:ea typeface="+mj-ea"/>
                <a:cs typeface="Segoe UI" pitchFamily="34" charset="0"/>
              </a:rPr>
              <a:t>multi-disciplinary</a:t>
            </a:r>
            <a:r>
              <a:rPr kumimoji="0" lang="en-US" sz="2800" b="0" i="0" u="none" strike="noStrike" kern="1200" cap="none" spc="0" normalizeH="0" noProof="0" dirty="0" smtClean="0">
                <a:ln>
                  <a:noFill/>
                </a:ln>
                <a:solidFill>
                  <a:schemeClr val="bg1"/>
                </a:solidFill>
                <a:effectLst/>
                <a:uLnTx/>
                <a:uFillTx/>
                <a:latin typeface="Segoe UI" pitchFamily="34" charset="0"/>
                <a:ea typeface="+mj-ea"/>
                <a:cs typeface="Segoe UI" pitchFamily="34" charset="0"/>
              </a:rPr>
              <a:t> perspective.</a:t>
            </a:r>
            <a:endParaRPr kumimoji="0" lang="en-US" sz="2800" b="0" i="0" u="none" strike="noStrike" kern="1200" cap="none" spc="0" normalizeH="0" baseline="0" noProof="0" dirty="0">
              <a:ln>
                <a:noFill/>
              </a:ln>
              <a:solidFill>
                <a:schemeClr val="bg1"/>
              </a:solidFill>
              <a:effectLst/>
              <a:uLnTx/>
              <a:uFillTx/>
              <a:latin typeface="Segoe UI" pitchFamily="34" charset="0"/>
              <a:ea typeface="+mj-ea"/>
              <a:cs typeface="Segoe UI" pitchFamily="34" charset="0"/>
            </a:endParaRPr>
          </a:p>
        </p:txBody>
      </p:sp>
      <p:sp>
        <p:nvSpPr>
          <p:cNvPr id="7" name="TextBox 6"/>
          <p:cNvSpPr txBox="1"/>
          <p:nvPr/>
        </p:nvSpPr>
        <p:spPr>
          <a:xfrm>
            <a:off x="3733800" y="6336268"/>
            <a:ext cx="1736022" cy="369332"/>
          </a:xfrm>
          <a:prstGeom prst="rect">
            <a:avLst/>
          </a:prstGeom>
          <a:noFill/>
        </p:spPr>
        <p:txBody>
          <a:bodyPr wrap="none" rtlCol="0">
            <a:spAutoFit/>
          </a:bodyPr>
          <a:lstStyle/>
          <a:p>
            <a:pPr algn="r"/>
            <a:r>
              <a:rPr lang="en-US" dirty="0" smtClean="0"/>
              <a:t>Manheim, 1979</a:t>
            </a:r>
            <a:endParaRPr lang="en-US" dirty="0"/>
          </a:p>
        </p:txBody>
      </p:sp>
    </p:spTree>
    <p:extLst>
      <p:ext uri="{BB962C8B-B14F-4D97-AF65-F5344CB8AC3E}">
        <p14:creationId xmlns:p14="http://schemas.microsoft.com/office/powerpoint/2010/main" val="1707580867"/>
      </p:ext>
    </p:extLst>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2800" dirty="0" smtClean="0">
                <a:solidFill>
                  <a:schemeClr val="bg1"/>
                </a:solidFill>
              </a:rPr>
              <a:t>Transportation is also </a:t>
            </a:r>
            <a:r>
              <a:rPr lang="en-US" sz="2800" b="1" dirty="0" smtClean="0">
                <a:solidFill>
                  <a:schemeClr val="bg1"/>
                </a:solidFill>
              </a:rPr>
              <a:t>dynamic and interconnected </a:t>
            </a:r>
            <a:r>
              <a:rPr lang="en-US" sz="2800" dirty="0" smtClean="0">
                <a:solidFill>
                  <a:schemeClr val="bg1"/>
                </a:solidFill>
              </a:rPr>
              <a:t>internally as well as with other complex dynamic systems.</a:t>
            </a:r>
            <a:endParaRPr lang="en-US" sz="2800" dirty="0">
              <a:solidFill>
                <a:schemeClr val="bg1"/>
              </a:solidFill>
            </a:endParaRPr>
          </a:p>
        </p:txBody>
      </p:sp>
      <p:sp>
        <p:nvSpPr>
          <p:cNvPr id="3" name="Content Placeholder 2"/>
          <p:cNvSpPr>
            <a:spLocks noGrp="1"/>
          </p:cNvSpPr>
          <p:nvPr>
            <p:ph idx="1"/>
          </p:nvPr>
        </p:nvSpPr>
        <p:spPr>
          <a:xfrm>
            <a:off x="457200" y="1905000"/>
            <a:ext cx="8229600" cy="4114800"/>
          </a:xfrm>
        </p:spPr>
        <p:txBody>
          <a:bodyPr>
            <a:normAutofit/>
          </a:bodyPr>
          <a:lstStyle/>
          <a:p>
            <a:pPr>
              <a:buNone/>
            </a:pPr>
            <a:endParaRPr lang="en-US" sz="2500" dirty="0" smtClean="0"/>
          </a:p>
          <a:p>
            <a:r>
              <a:rPr lang="en-US" sz="2500" b="1" dirty="0" smtClean="0"/>
              <a:t>Vary in space and time</a:t>
            </a:r>
            <a:r>
              <a:rPr lang="en-US" sz="2500" dirty="0" smtClean="0"/>
              <a:t>, stochastic in nature.</a:t>
            </a:r>
          </a:p>
          <a:p>
            <a:endParaRPr lang="en-US" sz="2500" dirty="0" smtClean="0"/>
          </a:p>
          <a:p>
            <a:r>
              <a:rPr lang="en-US" sz="2500" b="1" dirty="0" smtClean="0"/>
              <a:t>Human decision-makers </a:t>
            </a:r>
            <a:r>
              <a:rPr lang="en-US" sz="2500" dirty="0" smtClean="0"/>
              <a:t>with complex decision calculi make choices that shape the transportation system.</a:t>
            </a:r>
            <a:endParaRPr lang="en-US" sz="2500" dirty="0"/>
          </a:p>
        </p:txBody>
      </p:sp>
      <p:sp>
        <p:nvSpPr>
          <p:cNvPr id="5" name="TextBox 4"/>
          <p:cNvSpPr txBox="1"/>
          <p:nvPr/>
        </p:nvSpPr>
        <p:spPr>
          <a:xfrm>
            <a:off x="3882534" y="6336268"/>
            <a:ext cx="1587294" cy="369332"/>
          </a:xfrm>
          <a:prstGeom prst="rect">
            <a:avLst/>
          </a:prstGeom>
          <a:noFill/>
        </p:spPr>
        <p:txBody>
          <a:bodyPr wrap="none" rtlCol="0">
            <a:spAutoFit/>
          </a:bodyPr>
          <a:lstStyle/>
          <a:p>
            <a:pPr algn="r"/>
            <a:r>
              <a:rPr lang="en-US" dirty="0" err="1" smtClean="0"/>
              <a:t>Sussman</a:t>
            </a:r>
            <a:r>
              <a:rPr lang="en-US" dirty="0" smtClean="0"/>
              <a:t>, 2000</a:t>
            </a:r>
            <a:endParaRPr lang="en-US" dirty="0"/>
          </a:p>
        </p:txBody>
      </p:sp>
    </p:spTree>
    <p:extLst>
      <p:ext uri="{BB962C8B-B14F-4D97-AF65-F5344CB8AC3E}">
        <p14:creationId xmlns:p14="http://schemas.microsoft.com/office/powerpoint/2010/main" val="3397676384"/>
      </p:ext>
    </p:extLst>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85800" y="2362200"/>
            <a:ext cx="7772400" cy="1828800"/>
          </a:xfrm>
        </p:spPr>
        <p:txBody>
          <a:bodyPr>
            <a:normAutofit fontScale="90000"/>
          </a:bodyPr>
          <a:lstStyle/>
          <a:p>
            <a:r>
              <a:rPr lang="en-US" dirty="0" smtClean="0"/>
              <a:t>Therefore, to make transportation system works, we have to share the VIEW THAT ..</a:t>
            </a:r>
            <a:endParaRPr lang="en-US" dirty="0"/>
          </a:p>
        </p:txBody>
      </p:sp>
    </p:spTree>
  </p:cSld>
  <p:clrMapOvr>
    <a:masterClrMapping/>
  </p:clrMapOvr>
  <p:transition>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52400"/>
            <a:ext cx="7696200" cy="1143000"/>
          </a:xfrm>
        </p:spPr>
        <p:txBody>
          <a:bodyPr>
            <a:normAutofit fontScale="90000"/>
          </a:bodyPr>
          <a:lstStyle/>
          <a:p>
            <a:pPr algn="l"/>
            <a:r>
              <a:rPr lang="en-US" sz="3200" dirty="0" smtClean="0">
                <a:solidFill>
                  <a:schemeClr val="bg1"/>
                </a:solidFill>
              </a:rPr>
              <a:t>The </a:t>
            </a:r>
            <a:r>
              <a:rPr lang="en-US" sz="3200" b="1" dirty="0" smtClean="0">
                <a:solidFill>
                  <a:schemeClr val="bg1"/>
                </a:solidFill>
              </a:rPr>
              <a:t>basic premise </a:t>
            </a:r>
            <a:r>
              <a:rPr lang="en-US" sz="3200" dirty="0" smtClean="0">
                <a:solidFill>
                  <a:schemeClr val="bg1"/>
                </a:solidFill>
              </a:rPr>
              <a:t>is total transportation system of a region must be viewed as </a:t>
            </a:r>
            <a:r>
              <a:rPr lang="en-US" sz="3200" b="1" dirty="0" smtClean="0">
                <a:solidFill>
                  <a:schemeClr val="bg1"/>
                </a:solidFill>
              </a:rPr>
              <a:t>a single, multimodal system.</a:t>
            </a:r>
            <a:endParaRPr lang="en-US" sz="3200" b="1" dirty="0">
              <a:solidFill>
                <a:schemeClr val="bg1"/>
              </a:solidFill>
            </a:endParaRPr>
          </a:p>
        </p:txBody>
      </p:sp>
      <p:sp>
        <p:nvSpPr>
          <p:cNvPr id="3" name="Content Placeholder 2"/>
          <p:cNvSpPr>
            <a:spLocks noGrp="1"/>
          </p:cNvSpPr>
          <p:nvPr>
            <p:ph idx="1"/>
          </p:nvPr>
        </p:nvSpPr>
        <p:spPr>
          <a:xfrm>
            <a:off x="457200" y="1600200"/>
            <a:ext cx="8686800" cy="4525963"/>
          </a:xfrm>
        </p:spPr>
        <p:txBody>
          <a:bodyPr>
            <a:normAutofit/>
          </a:bodyPr>
          <a:lstStyle/>
          <a:p>
            <a:r>
              <a:rPr lang="en-US" sz="2500" dirty="0" smtClean="0"/>
              <a:t>All modes of transportation</a:t>
            </a:r>
          </a:p>
          <a:p>
            <a:r>
              <a:rPr lang="en-US" sz="2500" dirty="0" smtClean="0"/>
              <a:t>All elements: </a:t>
            </a:r>
          </a:p>
          <a:p>
            <a:pPr lvl="1"/>
            <a:r>
              <a:rPr lang="en-US" sz="2500" dirty="0" smtClean="0"/>
              <a:t>Persons/goods being transported</a:t>
            </a:r>
          </a:p>
          <a:p>
            <a:pPr lvl="1"/>
            <a:r>
              <a:rPr lang="en-US" sz="2500" dirty="0" smtClean="0"/>
              <a:t>Vehicles in which they conveyed</a:t>
            </a:r>
          </a:p>
          <a:p>
            <a:pPr lvl="1"/>
            <a:r>
              <a:rPr lang="en-US" sz="2500" dirty="0" smtClean="0"/>
              <a:t>The network of facilities through which the vehicles/passengers/cargoes move, including terminals, transfer points, as well as line-haul facilities</a:t>
            </a:r>
          </a:p>
          <a:p>
            <a:r>
              <a:rPr lang="en-US" sz="2500" dirty="0" smtClean="0"/>
              <a:t>All movements through the system (for all OD)</a:t>
            </a:r>
          </a:p>
          <a:p>
            <a:r>
              <a:rPr lang="en-US" sz="2500" dirty="0" smtClean="0"/>
              <a:t>For each specific flow, the total trip, from point of origin to final destination, over all modes and facilities</a:t>
            </a:r>
            <a:endParaRPr lang="en-US" sz="2500" dirty="0"/>
          </a:p>
        </p:txBody>
      </p:sp>
      <p:sp>
        <p:nvSpPr>
          <p:cNvPr id="5" name="TextBox 4"/>
          <p:cNvSpPr txBox="1"/>
          <p:nvPr/>
        </p:nvSpPr>
        <p:spPr>
          <a:xfrm>
            <a:off x="3733800" y="6336268"/>
            <a:ext cx="1736022" cy="369332"/>
          </a:xfrm>
          <a:prstGeom prst="rect">
            <a:avLst/>
          </a:prstGeom>
          <a:noFill/>
        </p:spPr>
        <p:txBody>
          <a:bodyPr wrap="none" rtlCol="0">
            <a:spAutoFit/>
          </a:bodyPr>
          <a:lstStyle/>
          <a:p>
            <a:pPr algn="r"/>
            <a:r>
              <a:rPr lang="en-US" dirty="0" smtClean="0"/>
              <a:t>Manheim, 1979</a:t>
            </a:r>
            <a:endParaRPr lang="en-US" dirty="0"/>
          </a:p>
        </p:txBody>
      </p:sp>
    </p:spTree>
    <p:extLst>
      <p:ext uri="{BB962C8B-B14F-4D97-AF65-F5344CB8AC3E}">
        <p14:creationId xmlns:p14="http://schemas.microsoft.com/office/powerpoint/2010/main" val="110488013"/>
      </p:ext>
    </p:extLst>
  </p:cSld>
  <p:clrMapOvr>
    <a:masterClrMapping/>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52400"/>
            <a:ext cx="7696200" cy="1143000"/>
          </a:xfrm>
        </p:spPr>
        <p:txBody>
          <a:bodyPr>
            <a:noAutofit/>
          </a:bodyPr>
          <a:lstStyle/>
          <a:p>
            <a:pPr algn="l"/>
            <a:r>
              <a:rPr lang="en-US" sz="2800" dirty="0" smtClean="0">
                <a:solidFill>
                  <a:schemeClr val="bg1"/>
                </a:solidFill>
              </a:rPr>
              <a:t>Manheim’s model illustrates the interconnection of transportation system with external dynamic systems: flow &amp; activity.</a:t>
            </a:r>
            <a:endParaRPr lang="en-US" sz="2800" dirty="0">
              <a:solidFill>
                <a:schemeClr val="bg1"/>
              </a:solidFill>
            </a:endParaRPr>
          </a:p>
        </p:txBody>
      </p:sp>
      <p:pic>
        <p:nvPicPr>
          <p:cNvPr id="4" name="Picture 3"/>
          <p:cNvPicPr>
            <a:picLocks noChangeAspect="1"/>
          </p:cNvPicPr>
          <p:nvPr/>
        </p:nvPicPr>
        <p:blipFill>
          <a:blip r:embed="rId2"/>
          <a:stretch>
            <a:fillRect/>
          </a:stretch>
        </p:blipFill>
        <p:spPr>
          <a:xfrm>
            <a:off x="218953" y="1778128"/>
            <a:ext cx="4792249" cy="4293428"/>
          </a:xfrm>
          <a:prstGeom prst="rect">
            <a:avLst/>
          </a:prstGeom>
        </p:spPr>
      </p:pic>
      <p:sp>
        <p:nvSpPr>
          <p:cNvPr id="6" name="Content Placeholder 2"/>
          <p:cNvSpPr>
            <a:spLocks noGrp="1"/>
          </p:cNvSpPr>
          <p:nvPr>
            <p:ph idx="1"/>
          </p:nvPr>
        </p:nvSpPr>
        <p:spPr>
          <a:xfrm>
            <a:off x="5185528" y="1524000"/>
            <a:ext cx="3958472" cy="5181600"/>
          </a:xfrm>
        </p:spPr>
        <p:txBody>
          <a:bodyPr>
            <a:noAutofit/>
          </a:bodyPr>
          <a:lstStyle/>
          <a:p>
            <a:pPr>
              <a:buClr>
                <a:srgbClr val="C00000"/>
              </a:buClr>
              <a:buFont typeface="+mj-lt"/>
              <a:buAutoNum type="arabicPeriod"/>
            </a:pPr>
            <a:r>
              <a:rPr lang="en-US" sz="2400" dirty="0" smtClean="0"/>
              <a:t>The current pattern of flows is determined by the transportation and activity systems;</a:t>
            </a:r>
          </a:p>
          <a:p>
            <a:pPr>
              <a:buClr>
                <a:srgbClr val="C00000"/>
              </a:buClr>
              <a:buFont typeface="+mj-lt"/>
              <a:buAutoNum type="arabicPeriod"/>
            </a:pPr>
            <a:r>
              <a:rPr lang="en-US" sz="2400" dirty="0" smtClean="0"/>
              <a:t>The current flow pattern will cause changes over time in the activity system;</a:t>
            </a:r>
          </a:p>
          <a:p>
            <a:pPr>
              <a:buClr>
                <a:srgbClr val="C00000"/>
              </a:buClr>
              <a:buFont typeface="+mj-lt"/>
              <a:buAutoNum type="arabicPeriod"/>
            </a:pPr>
            <a:r>
              <a:rPr lang="en-US" sz="2400" dirty="0" smtClean="0"/>
              <a:t>The transportation system changes in response to actual or anticipated flows.</a:t>
            </a:r>
            <a:endParaRPr lang="en-US" sz="2400" dirty="0"/>
          </a:p>
        </p:txBody>
      </p:sp>
      <p:sp>
        <p:nvSpPr>
          <p:cNvPr id="7" name="TextBox 6"/>
          <p:cNvSpPr txBox="1"/>
          <p:nvPr/>
        </p:nvSpPr>
        <p:spPr>
          <a:xfrm>
            <a:off x="3733800" y="6336268"/>
            <a:ext cx="1736022" cy="369332"/>
          </a:xfrm>
          <a:prstGeom prst="rect">
            <a:avLst/>
          </a:prstGeom>
          <a:noFill/>
        </p:spPr>
        <p:txBody>
          <a:bodyPr wrap="none" rtlCol="0">
            <a:spAutoFit/>
          </a:bodyPr>
          <a:lstStyle/>
          <a:p>
            <a:pPr algn="r"/>
            <a:r>
              <a:rPr lang="en-US" dirty="0" smtClean="0"/>
              <a:t>Manheim, 1979</a:t>
            </a:r>
            <a:endParaRPr lang="en-US" dirty="0"/>
          </a:p>
        </p:txBody>
      </p:sp>
    </p:spTree>
    <p:extLst>
      <p:ext uri="{BB962C8B-B14F-4D97-AF65-F5344CB8AC3E}">
        <p14:creationId xmlns:p14="http://schemas.microsoft.com/office/powerpoint/2010/main" val="3567358211"/>
      </p:ext>
    </p:extLst>
  </p:cSld>
  <p:clrMapOvr>
    <a:masterClrMapping/>
  </p:clrMapOvr>
  <p:transition>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28600"/>
            <a:ext cx="7924800" cy="1143000"/>
          </a:xfrm>
        </p:spPr>
        <p:txBody>
          <a:bodyPr>
            <a:normAutofit fontScale="90000"/>
          </a:bodyPr>
          <a:lstStyle/>
          <a:p>
            <a:pPr algn="l"/>
            <a:r>
              <a:rPr lang="en-US" sz="2800" dirty="0" err="1" smtClean="0">
                <a:solidFill>
                  <a:schemeClr val="bg1"/>
                </a:solidFill>
              </a:rPr>
              <a:t>Cascetta</a:t>
            </a:r>
            <a:r>
              <a:rPr lang="en-US" sz="2800" dirty="0" smtClean="0">
                <a:solidFill>
                  <a:schemeClr val="bg1"/>
                </a:solidFill>
              </a:rPr>
              <a:t> further explains the dynamic interconnection between transportation </a:t>
            </a:r>
            <a:r>
              <a:rPr lang="en-US" sz="2800" b="1" dirty="0" smtClean="0">
                <a:solidFill>
                  <a:schemeClr val="bg1"/>
                </a:solidFill>
              </a:rPr>
              <a:t>supply and demand</a:t>
            </a:r>
            <a:r>
              <a:rPr lang="en-US" sz="2800" dirty="0" smtClean="0">
                <a:solidFill>
                  <a:schemeClr val="bg1"/>
                </a:solidFill>
              </a:rPr>
              <a:t> and their relationship with </a:t>
            </a:r>
            <a:r>
              <a:rPr lang="en-US" sz="2800" b="1" dirty="0" smtClean="0">
                <a:solidFill>
                  <a:schemeClr val="bg1"/>
                </a:solidFill>
              </a:rPr>
              <a:t>the activity system</a:t>
            </a:r>
            <a:endParaRPr lang="en-US" sz="2800" b="1" dirty="0">
              <a:solidFill>
                <a:schemeClr val="bg1"/>
              </a:solidFill>
            </a:endParaRPr>
          </a:p>
        </p:txBody>
      </p:sp>
      <p:sp>
        <p:nvSpPr>
          <p:cNvPr id="3" name="Content Placeholder 2"/>
          <p:cNvSpPr>
            <a:spLocks noGrp="1"/>
          </p:cNvSpPr>
          <p:nvPr>
            <p:ph idx="1"/>
          </p:nvPr>
        </p:nvSpPr>
        <p:spPr>
          <a:xfrm>
            <a:off x="609600" y="1752600"/>
            <a:ext cx="8229600" cy="4525963"/>
          </a:xfrm>
        </p:spPr>
        <p:txBody>
          <a:bodyPr>
            <a:normAutofit/>
          </a:bodyPr>
          <a:lstStyle/>
          <a:p>
            <a:r>
              <a:rPr lang="en-US" sz="2400" dirty="0" smtClean="0"/>
              <a:t>Consist not only of the </a:t>
            </a:r>
            <a:r>
              <a:rPr lang="en-US" sz="2400" b="1" dirty="0" smtClean="0"/>
              <a:t>physical and organizational elements </a:t>
            </a:r>
            <a:r>
              <a:rPr lang="en-US" sz="2400" dirty="0" smtClean="0"/>
              <a:t>that interact with each other to produce transportation opportunities, but also of the demand that takes advantage of such opportunities to travel from one place to another.</a:t>
            </a:r>
          </a:p>
          <a:p>
            <a:pPr>
              <a:buNone/>
            </a:pPr>
            <a:endParaRPr lang="en-US" sz="2400" dirty="0" smtClean="0"/>
          </a:p>
          <a:p>
            <a:r>
              <a:rPr lang="en-US" sz="2400" dirty="0" smtClean="0"/>
              <a:t>Can be defined as </a:t>
            </a:r>
            <a:r>
              <a:rPr lang="en-US" sz="2400" b="1" dirty="0" smtClean="0"/>
              <a:t>a set of elements </a:t>
            </a:r>
            <a:r>
              <a:rPr lang="en-US" sz="2400" dirty="0" smtClean="0"/>
              <a:t>and the interactions between them that produce both demand for travel within a given area and the provision of transportation services to satisfy this demand.</a:t>
            </a:r>
            <a:endParaRPr lang="en-US" sz="2400" dirty="0"/>
          </a:p>
        </p:txBody>
      </p:sp>
      <p:sp>
        <p:nvSpPr>
          <p:cNvPr id="5" name="TextBox 4"/>
          <p:cNvSpPr txBox="1"/>
          <p:nvPr/>
        </p:nvSpPr>
        <p:spPr>
          <a:xfrm>
            <a:off x="3912289" y="6336268"/>
            <a:ext cx="1557542" cy="369332"/>
          </a:xfrm>
          <a:prstGeom prst="rect">
            <a:avLst/>
          </a:prstGeom>
          <a:noFill/>
        </p:spPr>
        <p:txBody>
          <a:bodyPr wrap="none" rtlCol="0">
            <a:spAutoFit/>
          </a:bodyPr>
          <a:lstStyle/>
          <a:p>
            <a:pPr algn="r"/>
            <a:r>
              <a:rPr lang="en-US" dirty="0" err="1" smtClean="0"/>
              <a:t>Cascetta</a:t>
            </a:r>
            <a:r>
              <a:rPr lang="en-US" dirty="0" smtClean="0"/>
              <a:t>, 2009</a:t>
            </a:r>
            <a:endParaRPr lang="en-US" dirty="0"/>
          </a:p>
        </p:txBody>
      </p:sp>
    </p:spTree>
    <p:extLst>
      <p:ext uri="{BB962C8B-B14F-4D97-AF65-F5344CB8AC3E}">
        <p14:creationId xmlns:p14="http://schemas.microsoft.com/office/powerpoint/2010/main" val="784597812"/>
      </p:ext>
    </p:extLst>
  </p:cSld>
  <p:clrMapOvr>
    <a:masterClrMapping/>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3"/>
          <a:stretch>
            <a:fillRect/>
          </a:stretch>
        </p:blipFill>
        <p:spPr>
          <a:xfrm>
            <a:off x="0" y="128702"/>
            <a:ext cx="9144000" cy="6729298"/>
          </a:xfrm>
          <a:prstGeom prst="rect">
            <a:avLst/>
          </a:prstGeom>
        </p:spPr>
      </p:pic>
      <p:sp>
        <p:nvSpPr>
          <p:cNvPr id="6" name="TextBox 5"/>
          <p:cNvSpPr txBox="1"/>
          <p:nvPr/>
        </p:nvSpPr>
        <p:spPr>
          <a:xfrm>
            <a:off x="7586458" y="6488668"/>
            <a:ext cx="1557542" cy="369332"/>
          </a:xfrm>
          <a:prstGeom prst="rect">
            <a:avLst/>
          </a:prstGeom>
          <a:noFill/>
        </p:spPr>
        <p:txBody>
          <a:bodyPr wrap="none" rtlCol="0">
            <a:spAutoFit/>
          </a:bodyPr>
          <a:lstStyle/>
          <a:p>
            <a:pPr algn="r"/>
            <a:r>
              <a:rPr lang="en-US" dirty="0" err="1" smtClean="0"/>
              <a:t>Cascetta</a:t>
            </a:r>
            <a:r>
              <a:rPr lang="en-US" dirty="0" smtClean="0"/>
              <a:t>, 2009</a:t>
            </a:r>
            <a:endParaRPr lang="en-US" dirty="0"/>
          </a:p>
        </p:txBody>
      </p:sp>
    </p:spTree>
  </p:cSld>
  <p:clrMapOvr>
    <a:masterClrMapping/>
  </p:clrMapOvr>
  <p:transition>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algn="l"/>
            <a:r>
              <a:rPr lang="en-US" sz="3200" dirty="0" smtClean="0">
                <a:solidFill>
                  <a:schemeClr val="bg1"/>
                </a:solidFill>
              </a:rPr>
              <a:t>We must also understand transportation as a </a:t>
            </a:r>
            <a:r>
              <a:rPr lang="en-US" sz="3200" b="1" dirty="0" smtClean="0">
                <a:solidFill>
                  <a:schemeClr val="bg1"/>
                </a:solidFill>
              </a:rPr>
              <a:t>subsystem</a:t>
            </a:r>
            <a:r>
              <a:rPr lang="en-US" sz="3200" dirty="0" smtClean="0">
                <a:solidFill>
                  <a:schemeClr val="bg1"/>
                </a:solidFill>
              </a:rPr>
              <a:t> of the complex of social, economic, political, and other forces.</a:t>
            </a:r>
            <a:endParaRPr lang="en-US" sz="3200" dirty="0">
              <a:solidFill>
                <a:schemeClr val="bg1"/>
              </a:solidFill>
            </a:endParaRPr>
          </a:p>
        </p:txBody>
      </p:sp>
      <p:sp>
        <p:nvSpPr>
          <p:cNvPr id="6" name="Content Placeholder 5"/>
          <p:cNvSpPr>
            <a:spLocks noGrp="1"/>
          </p:cNvSpPr>
          <p:nvPr>
            <p:ph idx="1"/>
          </p:nvPr>
        </p:nvSpPr>
        <p:spPr>
          <a:xfrm>
            <a:off x="457200" y="2057401"/>
            <a:ext cx="8229600" cy="3886199"/>
          </a:xfrm>
        </p:spPr>
        <p:txBody>
          <a:bodyPr>
            <a:normAutofit fontScale="77500" lnSpcReduction="20000"/>
          </a:bodyPr>
          <a:lstStyle/>
          <a:p>
            <a:r>
              <a:rPr lang="en-US" dirty="0" smtClean="0"/>
              <a:t>In Manheim (1979), the social, economic, political, and other forces were summarized as </a:t>
            </a:r>
            <a:r>
              <a:rPr lang="en-US" b="1" dirty="0" smtClean="0"/>
              <a:t>the activity system</a:t>
            </a:r>
          </a:p>
          <a:p>
            <a:endParaRPr lang="en-US" b="1" dirty="0" smtClean="0"/>
          </a:p>
          <a:p>
            <a:r>
              <a:rPr lang="en-US" dirty="0" err="1" smtClean="0"/>
              <a:t>Kusbiantoro</a:t>
            </a:r>
            <a:r>
              <a:rPr lang="en-US" dirty="0" smtClean="0"/>
              <a:t> (2011)*, on the other hand, placed those forces as external factors that may influence </a:t>
            </a:r>
            <a:r>
              <a:rPr lang="en-US" b="1" dirty="0" smtClean="0"/>
              <a:t>the total transportation system</a:t>
            </a:r>
            <a:endParaRPr lang="en-US" dirty="0" smtClean="0"/>
          </a:p>
          <a:p>
            <a:pPr lvl="1"/>
            <a:r>
              <a:rPr lang="en-US" dirty="0" smtClean="0"/>
              <a:t>Institutional system: legal, organization, personnel, and finance.</a:t>
            </a:r>
          </a:p>
          <a:p>
            <a:pPr lvl="1"/>
            <a:r>
              <a:rPr lang="en-US" dirty="0" smtClean="0"/>
              <a:t>Externalities from local, regional, and international level: economy, social, culture, environment, and politics.</a:t>
            </a:r>
          </a:p>
          <a:p>
            <a:endParaRPr lang="en-US" dirty="0"/>
          </a:p>
        </p:txBody>
      </p:sp>
    </p:spTree>
  </p:cSld>
  <p:clrMapOvr>
    <a:masterClrMapping/>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990600" y="838200"/>
            <a:ext cx="6781800" cy="4724400"/>
          </a:xfrm>
          <a:prstGeom prst="rect">
            <a:avLst/>
          </a:prstGeom>
          <a:noFill/>
          <a:ln w="9525">
            <a:solidFill>
              <a:schemeClr val="tx1"/>
            </a:solidFill>
            <a:miter lim="800000"/>
            <a:headEnd/>
            <a:tailEnd/>
          </a:ln>
        </p:spPr>
        <p:txBody>
          <a:bodyPr wrap="none" anchor="ctr"/>
          <a:lstStyle/>
          <a:p>
            <a:endParaRPr lang="id-ID"/>
          </a:p>
        </p:txBody>
      </p:sp>
      <p:sp>
        <p:nvSpPr>
          <p:cNvPr id="6" name="Rectangle 3"/>
          <p:cNvSpPr>
            <a:spLocks noChangeArrowheads="1"/>
          </p:cNvSpPr>
          <p:nvPr/>
        </p:nvSpPr>
        <p:spPr bwMode="auto">
          <a:xfrm>
            <a:off x="1143000" y="1447800"/>
            <a:ext cx="6400800" cy="3581400"/>
          </a:xfrm>
          <a:prstGeom prst="rect">
            <a:avLst/>
          </a:prstGeom>
          <a:noFill/>
          <a:ln w="9525">
            <a:solidFill>
              <a:schemeClr val="tx1"/>
            </a:solidFill>
            <a:miter lim="800000"/>
            <a:headEnd/>
            <a:tailEnd/>
          </a:ln>
        </p:spPr>
        <p:txBody>
          <a:bodyPr wrap="none" anchor="ctr"/>
          <a:lstStyle/>
          <a:p>
            <a:endParaRPr lang="id-ID"/>
          </a:p>
        </p:txBody>
      </p:sp>
      <p:sp>
        <p:nvSpPr>
          <p:cNvPr id="7" name="Rectangle 4"/>
          <p:cNvSpPr>
            <a:spLocks noChangeArrowheads="1"/>
          </p:cNvSpPr>
          <p:nvPr/>
        </p:nvSpPr>
        <p:spPr bwMode="auto">
          <a:xfrm>
            <a:off x="3429000" y="1524000"/>
            <a:ext cx="3810000" cy="3429000"/>
          </a:xfrm>
          <a:prstGeom prst="rect">
            <a:avLst/>
          </a:prstGeom>
          <a:noFill/>
          <a:ln w="9525">
            <a:solidFill>
              <a:schemeClr val="tx1"/>
            </a:solidFill>
            <a:miter lim="800000"/>
            <a:headEnd/>
            <a:tailEnd/>
          </a:ln>
        </p:spPr>
        <p:txBody>
          <a:bodyPr wrap="none" anchor="ctr"/>
          <a:lstStyle/>
          <a:p>
            <a:endParaRPr lang="id-ID"/>
          </a:p>
        </p:txBody>
      </p:sp>
      <p:sp>
        <p:nvSpPr>
          <p:cNvPr id="8" name="Text Box 5"/>
          <p:cNvSpPr txBox="1">
            <a:spLocks noChangeArrowheads="1"/>
          </p:cNvSpPr>
          <p:nvPr/>
        </p:nvSpPr>
        <p:spPr bwMode="auto">
          <a:xfrm>
            <a:off x="1447800" y="2209800"/>
            <a:ext cx="1616075" cy="2215991"/>
          </a:xfrm>
          <a:prstGeom prst="rect">
            <a:avLst/>
          </a:prstGeom>
          <a:noFill/>
          <a:ln w="9525">
            <a:solidFill>
              <a:schemeClr val="tx1"/>
            </a:solidFill>
            <a:miter lim="800000"/>
            <a:headEnd/>
            <a:tailEnd/>
          </a:ln>
        </p:spPr>
        <p:txBody>
          <a:bodyPr>
            <a:spAutoFit/>
          </a:bodyPr>
          <a:lstStyle/>
          <a:p>
            <a:pPr algn="ctr">
              <a:spcBef>
                <a:spcPct val="0"/>
              </a:spcBef>
            </a:pPr>
            <a:endParaRPr lang="en-US" sz="1800" dirty="0"/>
          </a:p>
          <a:p>
            <a:pPr algn="ctr">
              <a:spcBef>
                <a:spcPct val="0"/>
              </a:spcBef>
            </a:pPr>
            <a:r>
              <a:rPr lang="en-US" dirty="0" smtClean="0"/>
              <a:t>Institutional</a:t>
            </a:r>
          </a:p>
          <a:p>
            <a:pPr algn="ctr">
              <a:spcBef>
                <a:spcPct val="0"/>
              </a:spcBef>
            </a:pPr>
            <a:r>
              <a:rPr lang="en-US" sz="1800" dirty="0" smtClean="0"/>
              <a:t>System</a:t>
            </a:r>
            <a:endParaRPr lang="en-US" sz="1800" dirty="0"/>
          </a:p>
          <a:p>
            <a:pPr>
              <a:spcBef>
                <a:spcPct val="0"/>
              </a:spcBef>
              <a:buFontTx/>
              <a:buChar char="-"/>
            </a:pPr>
            <a:r>
              <a:rPr lang="en-US" sz="1800" dirty="0"/>
              <a:t> legal</a:t>
            </a:r>
          </a:p>
          <a:p>
            <a:pPr>
              <a:spcBef>
                <a:spcPct val="0"/>
              </a:spcBef>
              <a:buFontTx/>
              <a:buChar char="-"/>
            </a:pPr>
            <a:r>
              <a:rPr lang="en-US" sz="1800" dirty="0"/>
              <a:t> </a:t>
            </a:r>
            <a:r>
              <a:rPr lang="en-US" sz="1800" dirty="0" smtClean="0"/>
              <a:t>organization</a:t>
            </a:r>
            <a:endParaRPr lang="en-US" sz="1800" dirty="0"/>
          </a:p>
          <a:p>
            <a:pPr>
              <a:spcBef>
                <a:spcPct val="0"/>
              </a:spcBef>
              <a:buFontTx/>
              <a:buChar char="-"/>
            </a:pPr>
            <a:r>
              <a:rPr lang="en-US" sz="1800" dirty="0"/>
              <a:t> </a:t>
            </a:r>
            <a:r>
              <a:rPr lang="en-US" dirty="0" smtClean="0"/>
              <a:t>personnel</a:t>
            </a:r>
            <a:endParaRPr lang="en-US" sz="1800" dirty="0"/>
          </a:p>
          <a:p>
            <a:pPr>
              <a:spcBef>
                <a:spcPct val="0"/>
              </a:spcBef>
              <a:buFontTx/>
              <a:buChar char="-"/>
            </a:pPr>
            <a:r>
              <a:rPr lang="en-US" sz="1800" dirty="0"/>
              <a:t> </a:t>
            </a:r>
            <a:r>
              <a:rPr lang="en-US" dirty="0" smtClean="0"/>
              <a:t>finance</a:t>
            </a:r>
            <a:endParaRPr lang="en-US" sz="1200" dirty="0"/>
          </a:p>
          <a:p>
            <a:pPr algn="ctr">
              <a:spcBef>
                <a:spcPct val="0"/>
              </a:spcBef>
            </a:pPr>
            <a:endParaRPr lang="en-US" sz="1200" dirty="0"/>
          </a:p>
        </p:txBody>
      </p:sp>
      <p:sp>
        <p:nvSpPr>
          <p:cNvPr id="9" name="Oval 6"/>
          <p:cNvSpPr>
            <a:spLocks noChangeArrowheads="1"/>
          </p:cNvSpPr>
          <p:nvPr/>
        </p:nvSpPr>
        <p:spPr bwMode="auto">
          <a:xfrm>
            <a:off x="3581400" y="1676400"/>
            <a:ext cx="1447800" cy="1295400"/>
          </a:xfrm>
          <a:prstGeom prst="ellipse">
            <a:avLst/>
          </a:prstGeom>
          <a:solidFill>
            <a:schemeClr val="bg1"/>
          </a:solidFill>
          <a:ln w="9525">
            <a:solidFill>
              <a:schemeClr val="tx1"/>
            </a:solidFill>
            <a:round/>
            <a:headEnd/>
            <a:tailEnd/>
          </a:ln>
        </p:spPr>
        <p:txBody>
          <a:bodyPr wrap="none" anchor="ctr"/>
          <a:lstStyle/>
          <a:p>
            <a:pPr algn="ctr">
              <a:spcBef>
                <a:spcPct val="0"/>
              </a:spcBef>
            </a:pPr>
            <a:endParaRPr lang="en-US" dirty="0" smtClean="0"/>
          </a:p>
          <a:p>
            <a:pPr algn="ctr">
              <a:spcBef>
                <a:spcPct val="0"/>
              </a:spcBef>
            </a:pPr>
            <a:r>
              <a:rPr lang="en-US" dirty="0" smtClean="0"/>
              <a:t>Activity </a:t>
            </a:r>
          </a:p>
          <a:p>
            <a:pPr algn="ctr">
              <a:spcBef>
                <a:spcPct val="0"/>
              </a:spcBef>
            </a:pPr>
            <a:r>
              <a:rPr lang="en-US" dirty="0" smtClean="0"/>
              <a:t>System</a:t>
            </a:r>
          </a:p>
          <a:p>
            <a:pPr algn="ctr">
              <a:spcBef>
                <a:spcPct val="0"/>
              </a:spcBef>
            </a:pPr>
            <a:endParaRPr lang="en-US" sz="1800" dirty="0"/>
          </a:p>
        </p:txBody>
      </p:sp>
      <p:sp>
        <p:nvSpPr>
          <p:cNvPr id="10" name="Oval 7"/>
          <p:cNvSpPr>
            <a:spLocks noChangeArrowheads="1"/>
          </p:cNvSpPr>
          <p:nvPr/>
        </p:nvSpPr>
        <p:spPr bwMode="auto">
          <a:xfrm>
            <a:off x="5638800" y="1676400"/>
            <a:ext cx="1447800" cy="1295400"/>
          </a:xfrm>
          <a:prstGeom prst="ellipse">
            <a:avLst/>
          </a:prstGeom>
          <a:solidFill>
            <a:schemeClr val="bg1"/>
          </a:solidFill>
          <a:ln w="9525">
            <a:solidFill>
              <a:schemeClr val="tx1"/>
            </a:solidFill>
            <a:round/>
            <a:headEnd/>
            <a:tailEnd/>
          </a:ln>
        </p:spPr>
        <p:txBody>
          <a:bodyPr wrap="none" anchor="ctr"/>
          <a:lstStyle/>
          <a:p>
            <a:pPr algn="ctr">
              <a:spcBef>
                <a:spcPct val="0"/>
              </a:spcBef>
            </a:pPr>
            <a:r>
              <a:rPr lang="en-US" dirty="0" smtClean="0"/>
              <a:t>Network </a:t>
            </a:r>
          </a:p>
          <a:p>
            <a:pPr algn="ctr">
              <a:spcBef>
                <a:spcPct val="0"/>
              </a:spcBef>
            </a:pPr>
            <a:r>
              <a:rPr lang="en-US" dirty="0" smtClean="0"/>
              <a:t>System</a:t>
            </a:r>
            <a:endParaRPr lang="en-US" sz="1800" dirty="0"/>
          </a:p>
        </p:txBody>
      </p:sp>
      <p:sp>
        <p:nvSpPr>
          <p:cNvPr id="11" name="Oval 8"/>
          <p:cNvSpPr>
            <a:spLocks noChangeArrowheads="1"/>
          </p:cNvSpPr>
          <p:nvPr/>
        </p:nvSpPr>
        <p:spPr bwMode="auto">
          <a:xfrm>
            <a:off x="4572000" y="3429000"/>
            <a:ext cx="1447800" cy="1295400"/>
          </a:xfrm>
          <a:prstGeom prst="ellipse">
            <a:avLst/>
          </a:prstGeom>
          <a:solidFill>
            <a:schemeClr val="bg1"/>
          </a:solidFill>
          <a:ln w="9525">
            <a:solidFill>
              <a:schemeClr val="tx1"/>
            </a:solidFill>
            <a:round/>
            <a:headEnd/>
            <a:tailEnd/>
          </a:ln>
        </p:spPr>
        <p:txBody>
          <a:bodyPr wrap="none" anchor="ctr"/>
          <a:lstStyle/>
          <a:p>
            <a:pPr algn="ctr">
              <a:spcBef>
                <a:spcPct val="0"/>
              </a:spcBef>
            </a:pPr>
            <a:r>
              <a:rPr lang="en-US" dirty="0" smtClean="0"/>
              <a:t>Flow </a:t>
            </a:r>
          </a:p>
          <a:p>
            <a:pPr algn="ctr">
              <a:spcBef>
                <a:spcPct val="0"/>
              </a:spcBef>
            </a:pPr>
            <a:r>
              <a:rPr lang="en-US" dirty="0" smtClean="0"/>
              <a:t>System</a:t>
            </a:r>
            <a:endParaRPr lang="en-US" sz="1800" dirty="0"/>
          </a:p>
        </p:txBody>
      </p:sp>
      <p:sp>
        <p:nvSpPr>
          <p:cNvPr id="12" name="Arc 9"/>
          <p:cNvSpPr>
            <a:spLocks/>
          </p:cNvSpPr>
          <p:nvPr/>
        </p:nvSpPr>
        <p:spPr bwMode="auto">
          <a:xfrm flipV="1">
            <a:off x="5257800" y="2970213"/>
            <a:ext cx="1295400" cy="1754187"/>
          </a:xfrm>
          <a:custGeom>
            <a:avLst/>
            <a:gdLst>
              <a:gd name="T0" fmla="*/ 59013 w 21600"/>
              <a:gd name="T1" fmla="*/ 0 h 26183"/>
              <a:gd name="T2" fmla="*/ 1265594 w 21600"/>
              <a:gd name="T3" fmla="*/ 1754187 h 26183"/>
              <a:gd name="T4" fmla="*/ 0 w 21600"/>
              <a:gd name="T5" fmla="*/ 1445665 h 26183"/>
              <a:gd name="T6" fmla="*/ 0 60000 65536"/>
              <a:gd name="T7" fmla="*/ 0 60000 65536"/>
              <a:gd name="T8" fmla="*/ 0 60000 65536"/>
              <a:gd name="T9" fmla="*/ 0 w 21600"/>
              <a:gd name="T10" fmla="*/ 0 h 26183"/>
              <a:gd name="T11" fmla="*/ 21600 w 21600"/>
              <a:gd name="T12" fmla="*/ 26183 h 26183"/>
            </a:gdLst>
            <a:ahLst/>
            <a:cxnLst>
              <a:cxn ang="T6">
                <a:pos x="T0" y="T1"/>
              </a:cxn>
              <a:cxn ang="T7">
                <a:pos x="T2" y="T3"/>
              </a:cxn>
              <a:cxn ang="T8">
                <a:pos x="T4" y="T5"/>
              </a:cxn>
            </a:cxnLst>
            <a:rect l="T9" t="T10" r="T11" b="T12"/>
            <a:pathLst>
              <a:path w="21600" h="26183" fill="none" extrusionOk="0">
                <a:moveTo>
                  <a:pt x="983" y="0"/>
                </a:moveTo>
                <a:cubicBezTo>
                  <a:pt x="12518" y="526"/>
                  <a:pt x="21600" y="10031"/>
                  <a:pt x="21600" y="21578"/>
                </a:cubicBezTo>
                <a:cubicBezTo>
                  <a:pt x="21600" y="23126"/>
                  <a:pt x="21433" y="24670"/>
                  <a:pt x="21103" y="26183"/>
                </a:cubicBezTo>
              </a:path>
              <a:path w="21600" h="26183" stroke="0" extrusionOk="0">
                <a:moveTo>
                  <a:pt x="983" y="0"/>
                </a:moveTo>
                <a:cubicBezTo>
                  <a:pt x="12518" y="526"/>
                  <a:pt x="21600" y="10031"/>
                  <a:pt x="21600" y="21578"/>
                </a:cubicBezTo>
                <a:cubicBezTo>
                  <a:pt x="21600" y="23126"/>
                  <a:pt x="21433" y="24670"/>
                  <a:pt x="21103" y="26183"/>
                </a:cubicBezTo>
                <a:lnTo>
                  <a:pt x="0" y="21578"/>
                </a:lnTo>
                <a:close/>
              </a:path>
            </a:pathLst>
          </a:custGeom>
          <a:noFill/>
          <a:ln w="9525">
            <a:solidFill>
              <a:schemeClr val="tx1"/>
            </a:solidFill>
            <a:round/>
            <a:headEnd/>
            <a:tailEnd type="arrow" w="med" len="med"/>
          </a:ln>
        </p:spPr>
        <p:txBody>
          <a:bodyPr wrap="none" anchor="ctr"/>
          <a:lstStyle/>
          <a:p>
            <a:endParaRPr lang="id-ID"/>
          </a:p>
        </p:txBody>
      </p:sp>
      <p:sp>
        <p:nvSpPr>
          <p:cNvPr id="13" name="Arc 10"/>
          <p:cNvSpPr>
            <a:spLocks/>
          </p:cNvSpPr>
          <p:nvPr/>
        </p:nvSpPr>
        <p:spPr bwMode="auto">
          <a:xfrm flipH="1" flipV="1">
            <a:off x="4038600" y="2971800"/>
            <a:ext cx="1371600" cy="1746250"/>
          </a:xfrm>
          <a:custGeom>
            <a:avLst/>
            <a:gdLst>
              <a:gd name="T0" fmla="*/ 135700 w 21600"/>
              <a:gd name="T1" fmla="*/ 0 h 26099"/>
              <a:gd name="T2" fmla="*/ 1340041 w 21600"/>
              <a:gd name="T3" fmla="*/ 1746250 h 26099"/>
              <a:gd name="T4" fmla="*/ 0 w 21600"/>
              <a:gd name="T5" fmla="*/ 1438136 h 26099"/>
              <a:gd name="T6" fmla="*/ 0 60000 65536"/>
              <a:gd name="T7" fmla="*/ 0 60000 65536"/>
              <a:gd name="T8" fmla="*/ 0 60000 65536"/>
              <a:gd name="T9" fmla="*/ 0 w 21600"/>
              <a:gd name="T10" fmla="*/ 0 h 26099"/>
              <a:gd name="T11" fmla="*/ 21600 w 21600"/>
              <a:gd name="T12" fmla="*/ 26099 h 26099"/>
            </a:gdLst>
            <a:ahLst/>
            <a:cxnLst>
              <a:cxn ang="T6">
                <a:pos x="T0" y="T1"/>
              </a:cxn>
              <a:cxn ang="T7">
                <a:pos x="T2" y="T3"/>
              </a:cxn>
              <a:cxn ang="T8">
                <a:pos x="T4" y="T5"/>
              </a:cxn>
            </a:cxnLst>
            <a:rect l="T9" t="T10" r="T11" b="T12"/>
            <a:pathLst>
              <a:path w="21600" h="26099" fill="none" extrusionOk="0">
                <a:moveTo>
                  <a:pt x="2137" y="-1"/>
                </a:moveTo>
                <a:cubicBezTo>
                  <a:pt x="13184" y="1098"/>
                  <a:pt x="21600" y="10392"/>
                  <a:pt x="21600" y="21494"/>
                </a:cubicBezTo>
                <a:cubicBezTo>
                  <a:pt x="21600" y="23042"/>
                  <a:pt x="21433" y="24586"/>
                  <a:pt x="21103" y="26099"/>
                </a:cubicBezTo>
              </a:path>
              <a:path w="21600" h="26099" stroke="0" extrusionOk="0">
                <a:moveTo>
                  <a:pt x="2137" y="-1"/>
                </a:moveTo>
                <a:cubicBezTo>
                  <a:pt x="13184" y="1098"/>
                  <a:pt x="21600" y="10392"/>
                  <a:pt x="21600" y="21494"/>
                </a:cubicBezTo>
                <a:cubicBezTo>
                  <a:pt x="21600" y="23042"/>
                  <a:pt x="21433" y="24586"/>
                  <a:pt x="21103" y="26099"/>
                </a:cubicBezTo>
                <a:lnTo>
                  <a:pt x="0" y="21494"/>
                </a:lnTo>
                <a:close/>
              </a:path>
            </a:pathLst>
          </a:custGeom>
          <a:noFill/>
          <a:ln w="9525">
            <a:solidFill>
              <a:schemeClr val="tx1"/>
            </a:solidFill>
            <a:round/>
            <a:headEnd/>
            <a:tailEnd type="arrow" w="med" len="med"/>
          </a:ln>
        </p:spPr>
        <p:txBody>
          <a:bodyPr wrap="none" anchor="ctr"/>
          <a:lstStyle/>
          <a:p>
            <a:endParaRPr lang="id-ID"/>
          </a:p>
        </p:txBody>
      </p:sp>
      <p:sp>
        <p:nvSpPr>
          <p:cNvPr id="14" name="Arc 11"/>
          <p:cNvSpPr>
            <a:spLocks/>
          </p:cNvSpPr>
          <p:nvPr/>
        </p:nvSpPr>
        <p:spPr bwMode="auto">
          <a:xfrm>
            <a:off x="4419600" y="2438400"/>
            <a:ext cx="914400" cy="944563"/>
          </a:xfrm>
          <a:custGeom>
            <a:avLst/>
            <a:gdLst>
              <a:gd name="T0" fmla="*/ 597747 w 21600"/>
              <a:gd name="T1" fmla="*/ 0 h 16346"/>
              <a:gd name="T2" fmla="*/ 914400 w 21600"/>
              <a:gd name="T3" fmla="*/ 944563 h 16346"/>
              <a:gd name="T4" fmla="*/ 0 w 21600"/>
              <a:gd name="T5" fmla="*/ 944563 h 16346"/>
              <a:gd name="T6" fmla="*/ 0 60000 65536"/>
              <a:gd name="T7" fmla="*/ 0 60000 65536"/>
              <a:gd name="T8" fmla="*/ 0 60000 65536"/>
              <a:gd name="T9" fmla="*/ 0 w 21600"/>
              <a:gd name="T10" fmla="*/ 0 h 16346"/>
              <a:gd name="T11" fmla="*/ 21600 w 21600"/>
              <a:gd name="T12" fmla="*/ 16346 h 16346"/>
            </a:gdLst>
            <a:ahLst/>
            <a:cxnLst>
              <a:cxn ang="T6">
                <a:pos x="T0" y="T1"/>
              </a:cxn>
              <a:cxn ang="T7">
                <a:pos x="T2" y="T3"/>
              </a:cxn>
              <a:cxn ang="T8">
                <a:pos x="T4" y="T5"/>
              </a:cxn>
            </a:cxnLst>
            <a:rect l="T9" t="T10" r="T11" b="T12"/>
            <a:pathLst>
              <a:path w="21600" h="16346" fill="none" extrusionOk="0">
                <a:moveTo>
                  <a:pt x="14119" y="0"/>
                </a:moveTo>
                <a:cubicBezTo>
                  <a:pt x="18869" y="4103"/>
                  <a:pt x="21600" y="10069"/>
                  <a:pt x="21600" y="16346"/>
                </a:cubicBezTo>
              </a:path>
              <a:path w="21600" h="16346" stroke="0" extrusionOk="0">
                <a:moveTo>
                  <a:pt x="14119" y="0"/>
                </a:moveTo>
                <a:cubicBezTo>
                  <a:pt x="18869" y="4103"/>
                  <a:pt x="21600" y="10069"/>
                  <a:pt x="21600" y="16346"/>
                </a:cubicBezTo>
                <a:lnTo>
                  <a:pt x="0" y="16346"/>
                </a:lnTo>
                <a:close/>
              </a:path>
            </a:pathLst>
          </a:custGeom>
          <a:noFill/>
          <a:ln w="9525">
            <a:solidFill>
              <a:schemeClr val="tx1"/>
            </a:solidFill>
            <a:round/>
            <a:headEnd/>
            <a:tailEnd type="arrow" w="med" len="med"/>
          </a:ln>
        </p:spPr>
        <p:txBody>
          <a:bodyPr wrap="none" anchor="ctr"/>
          <a:lstStyle/>
          <a:p>
            <a:endParaRPr lang="id-ID"/>
          </a:p>
        </p:txBody>
      </p:sp>
      <p:sp>
        <p:nvSpPr>
          <p:cNvPr id="15" name="Arc 12"/>
          <p:cNvSpPr>
            <a:spLocks/>
          </p:cNvSpPr>
          <p:nvPr/>
        </p:nvSpPr>
        <p:spPr bwMode="auto">
          <a:xfrm flipH="1">
            <a:off x="5334000" y="2476500"/>
            <a:ext cx="914400" cy="944563"/>
          </a:xfrm>
          <a:custGeom>
            <a:avLst/>
            <a:gdLst>
              <a:gd name="T0" fmla="*/ 597747 w 21600"/>
              <a:gd name="T1" fmla="*/ 0 h 16346"/>
              <a:gd name="T2" fmla="*/ 914400 w 21600"/>
              <a:gd name="T3" fmla="*/ 944563 h 16346"/>
              <a:gd name="T4" fmla="*/ 0 w 21600"/>
              <a:gd name="T5" fmla="*/ 944563 h 16346"/>
              <a:gd name="T6" fmla="*/ 0 60000 65536"/>
              <a:gd name="T7" fmla="*/ 0 60000 65536"/>
              <a:gd name="T8" fmla="*/ 0 60000 65536"/>
              <a:gd name="T9" fmla="*/ 0 w 21600"/>
              <a:gd name="T10" fmla="*/ 0 h 16346"/>
              <a:gd name="T11" fmla="*/ 21600 w 21600"/>
              <a:gd name="T12" fmla="*/ 16346 h 16346"/>
            </a:gdLst>
            <a:ahLst/>
            <a:cxnLst>
              <a:cxn ang="T6">
                <a:pos x="T0" y="T1"/>
              </a:cxn>
              <a:cxn ang="T7">
                <a:pos x="T2" y="T3"/>
              </a:cxn>
              <a:cxn ang="T8">
                <a:pos x="T4" y="T5"/>
              </a:cxn>
            </a:cxnLst>
            <a:rect l="T9" t="T10" r="T11" b="T12"/>
            <a:pathLst>
              <a:path w="21600" h="16346" fill="none" extrusionOk="0">
                <a:moveTo>
                  <a:pt x="14119" y="0"/>
                </a:moveTo>
                <a:cubicBezTo>
                  <a:pt x="18869" y="4103"/>
                  <a:pt x="21600" y="10069"/>
                  <a:pt x="21600" y="16346"/>
                </a:cubicBezTo>
              </a:path>
              <a:path w="21600" h="16346" stroke="0" extrusionOk="0">
                <a:moveTo>
                  <a:pt x="14119" y="0"/>
                </a:moveTo>
                <a:cubicBezTo>
                  <a:pt x="18869" y="4103"/>
                  <a:pt x="21600" y="10069"/>
                  <a:pt x="21600" y="16346"/>
                </a:cubicBezTo>
                <a:lnTo>
                  <a:pt x="0" y="16346"/>
                </a:lnTo>
                <a:close/>
              </a:path>
            </a:pathLst>
          </a:custGeom>
          <a:noFill/>
          <a:ln w="9525">
            <a:solidFill>
              <a:schemeClr val="tx1"/>
            </a:solidFill>
            <a:round/>
            <a:headEnd/>
            <a:tailEnd/>
          </a:ln>
        </p:spPr>
        <p:txBody>
          <a:bodyPr wrap="none" anchor="ctr"/>
          <a:lstStyle/>
          <a:p>
            <a:endParaRPr lang="id-ID"/>
          </a:p>
        </p:txBody>
      </p:sp>
      <p:sp>
        <p:nvSpPr>
          <p:cNvPr id="16" name="Text Box 13"/>
          <p:cNvSpPr txBox="1">
            <a:spLocks noChangeArrowheads="1"/>
          </p:cNvSpPr>
          <p:nvPr/>
        </p:nvSpPr>
        <p:spPr bwMode="auto">
          <a:xfrm>
            <a:off x="1905000" y="5181600"/>
            <a:ext cx="5257800" cy="287338"/>
          </a:xfrm>
          <a:prstGeom prst="rect">
            <a:avLst/>
          </a:prstGeom>
          <a:solidFill>
            <a:srgbClr val="FFFFFF"/>
          </a:solidFill>
          <a:ln w="12700">
            <a:solidFill>
              <a:schemeClr val="tx1"/>
            </a:solidFill>
            <a:miter lim="800000"/>
            <a:headEnd/>
            <a:tailEnd/>
          </a:ln>
        </p:spPr>
        <p:txBody>
          <a:bodyPr>
            <a:spAutoFit/>
          </a:bodyPr>
          <a:lstStyle/>
          <a:p>
            <a:pPr algn="ctr">
              <a:spcBef>
                <a:spcPct val="0"/>
              </a:spcBef>
            </a:pPr>
            <a:r>
              <a:rPr lang="en-US" sz="1200" dirty="0" smtClean="0"/>
              <a:t>Internal System: Economy-Social-Culture-Environment-Politics</a:t>
            </a:r>
            <a:endParaRPr lang="en-US" sz="1200" dirty="0"/>
          </a:p>
        </p:txBody>
      </p:sp>
      <p:sp>
        <p:nvSpPr>
          <p:cNvPr id="17" name="Text Box 14"/>
          <p:cNvSpPr txBox="1">
            <a:spLocks noChangeArrowheads="1"/>
          </p:cNvSpPr>
          <p:nvPr/>
        </p:nvSpPr>
        <p:spPr bwMode="auto">
          <a:xfrm>
            <a:off x="1905000" y="990600"/>
            <a:ext cx="4648200" cy="284163"/>
          </a:xfrm>
          <a:prstGeom prst="rect">
            <a:avLst/>
          </a:prstGeom>
          <a:noFill/>
          <a:ln w="9525">
            <a:solidFill>
              <a:schemeClr val="tx1"/>
            </a:solidFill>
            <a:miter lim="800000"/>
            <a:headEnd/>
            <a:tailEnd/>
          </a:ln>
        </p:spPr>
        <p:txBody>
          <a:bodyPr>
            <a:spAutoFit/>
          </a:bodyPr>
          <a:lstStyle/>
          <a:p>
            <a:pPr algn="ctr">
              <a:spcBef>
                <a:spcPct val="0"/>
              </a:spcBef>
            </a:pPr>
            <a:r>
              <a:rPr lang="en-US" sz="1200" smtClean="0"/>
              <a:t>External </a:t>
            </a:r>
            <a:r>
              <a:rPr lang="en-US" sz="1200" dirty="0"/>
              <a:t>System: Economy-Social-Culture-Environment-</a:t>
            </a:r>
            <a:r>
              <a:rPr lang="en-US" sz="1200" dirty="0" smtClean="0"/>
              <a:t>Politics</a:t>
            </a:r>
            <a:endParaRPr lang="en-US" sz="1200" dirty="0"/>
          </a:p>
        </p:txBody>
      </p:sp>
      <p:sp>
        <p:nvSpPr>
          <p:cNvPr id="18" name="Text Box 15"/>
          <p:cNvSpPr txBox="1">
            <a:spLocks noChangeArrowheads="1"/>
          </p:cNvSpPr>
          <p:nvPr/>
        </p:nvSpPr>
        <p:spPr bwMode="auto">
          <a:xfrm>
            <a:off x="6629400" y="914400"/>
            <a:ext cx="1066800" cy="276999"/>
          </a:xfrm>
          <a:prstGeom prst="rect">
            <a:avLst/>
          </a:prstGeom>
          <a:solidFill>
            <a:srgbClr val="D9D9D9"/>
          </a:solidFill>
          <a:ln w="38100">
            <a:solidFill>
              <a:schemeClr val="bg1"/>
            </a:solidFill>
            <a:miter lim="800000"/>
            <a:headEnd/>
            <a:tailEnd/>
          </a:ln>
        </p:spPr>
        <p:txBody>
          <a:bodyPr>
            <a:spAutoFit/>
          </a:bodyPr>
          <a:lstStyle/>
          <a:p>
            <a:pPr algn="ctr">
              <a:spcBef>
                <a:spcPct val="0"/>
              </a:spcBef>
            </a:pPr>
            <a:r>
              <a:rPr lang="en-US" sz="1200" dirty="0" smtClean="0"/>
              <a:t>Local</a:t>
            </a:r>
            <a:endParaRPr lang="en-US" sz="1200" dirty="0"/>
          </a:p>
        </p:txBody>
      </p:sp>
      <p:sp>
        <p:nvSpPr>
          <p:cNvPr id="19" name="Line 16"/>
          <p:cNvSpPr>
            <a:spLocks noChangeShapeType="1"/>
          </p:cNvSpPr>
          <p:nvPr/>
        </p:nvSpPr>
        <p:spPr bwMode="auto">
          <a:xfrm flipV="1">
            <a:off x="1295400" y="609600"/>
            <a:ext cx="0" cy="228600"/>
          </a:xfrm>
          <a:prstGeom prst="line">
            <a:avLst/>
          </a:prstGeom>
          <a:noFill/>
          <a:ln w="9525">
            <a:solidFill>
              <a:schemeClr val="tx1"/>
            </a:solidFill>
            <a:round/>
            <a:headEnd/>
            <a:tailEnd/>
          </a:ln>
        </p:spPr>
        <p:txBody>
          <a:bodyPr/>
          <a:lstStyle/>
          <a:p>
            <a:endParaRPr lang="en-US"/>
          </a:p>
        </p:txBody>
      </p:sp>
      <p:sp>
        <p:nvSpPr>
          <p:cNvPr id="20" name="Line 17"/>
          <p:cNvSpPr>
            <a:spLocks noChangeShapeType="1"/>
          </p:cNvSpPr>
          <p:nvPr/>
        </p:nvSpPr>
        <p:spPr bwMode="auto">
          <a:xfrm>
            <a:off x="1295400" y="609600"/>
            <a:ext cx="6705600" cy="0"/>
          </a:xfrm>
          <a:prstGeom prst="line">
            <a:avLst/>
          </a:prstGeom>
          <a:noFill/>
          <a:ln w="9525">
            <a:solidFill>
              <a:schemeClr val="tx1"/>
            </a:solidFill>
            <a:round/>
            <a:headEnd/>
            <a:tailEnd/>
          </a:ln>
        </p:spPr>
        <p:txBody>
          <a:bodyPr/>
          <a:lstStyle/>
          <a:p>
            <a:endParaRPr lang="en-US"/>
          </a:p>
        </p:txBody>
      </p:sp>
      <p:sp>
        <p:nvSpPr>
          <p:cNvPr id="21" name="Line 18"/>
          <p:cNvSpPr>
            <a:spLocks noChangeShapeType="1"/>
          </p:cNvSpPr>
          <p:nvPr/>
        </p:nvSpPr>
        <p:spPr bwMode="auto">
          <a:xfrm>
            <a:off x="8001000" y="609600"/>
            <a:ext cx="0" cy="5105400"/>
          </a:xfrm>
          <a:prstGeom prst="line">
            <a:avLst/>
          </a:prstGeom>
          <a:noFill/>
          <a:ln w="9525">
            <a:solidFill>
              <a:schemeClr val="tx1"/>
            </a:solidFill>
            <a:round/>
            <a:headEnd/>
            <a:tailEnd/>
          </a:ln>
        </p:spPr>
        <p:txBody>
          <a:bodyPr/>
          <a:lstStyle/>
          <a:p>
            <a:endParaRPr lang="en-US"/>
          </a:p>
        </p:txBody>
      </p:sp>
      <p:sp>
        <p:nvSpPr>
          <p:cNvPr id="22" name="Line 19"/>
          <p:cNvSpPr>
            <a:spLocks noChangeShapeType="1"/>
          </p:cNvSpPr>
          <p:nvPr/>
        </p:nvSpPr>
        <p:spPr bwMode="auto">
          <a:xfrm flipH="1">
            <a:off x="1295400" y="5715000"/>
            <a:ext cx="6705600" cy="0"/>
          </a:xfrm>
          <a:prstGeom prst="line">
            <a:avLst/>
          </a:prstGeom>
          <a:noFill/>
          <a:ln w="9525">
            <a:solidFill>
              <a:schemeClr val="tx1"/>
            </a:solidFill>
            <a:round/>
            <a:headEnd/>
            <a:tailEnd/>
          </a:ln>
        </p:spPr>
        <p:txBody>
          <a:bodyPr/>
          <a:lstStyle/>
          <a:p>
            <a:endParaRPr lang="en-US"/>
          </a:p>
        </p:txBody>
      </p:sp>
      <p:sp>
        <p:nvSpPr>
          <p:cNvPr id="23" name="Line 20"/>
          <p:cNvSpPr>
            <a:spLocks noChangeShapeType="1"/>
          </p:cNvSpPr>
          <p:nvPr/>
        </p:nvSpPr>
        <p:spPr bwMode="auto">
          <a:xfrm flipV="1">
            <a:off x="1295400" y="5562600"/>
            <a:ext cx="0" cy="152400"/>
          </a:xfrm>
          <a:prstGeom prst="line">
            <a:avLst/>
          </a:prstGeom>
          <a:noFill/>
          <a:ln w="9525">
            <a:solidFill>
              <a:schemeClr val="tx1"/>
            </a:solidFill>
            <a:round/>
            <a:headEnd/>
            <a:tailEnd/>
          </a:ln>
        </p:spPr>
        <p:txBody>
          <a:bodyPr/>
          <a:lstStyle/>
          <a:p>
            <a:endParaRPr lang="en-US"/>
          </a:p>
        </p:txBody>
      </p:sp>
      <p:sp>
        <p:nvSpPr>
          <p:cNvPr id="24" name="Line 21"/>
          <p:cNvSpPr>
            <a:spLocks noChangeShapeType="1"/>
          </p:cNvSpPr>
          <p:nvPr/>
        </p:nvSpPr>
        <p:spPr bwMode="auto">
          <a:xfrm flipV="1">
            <a:off x="1600200" y="457200"/>
            <a:ext cx="0" cy="152400"/>
          </a:xfrm>
          <a:prstGeom prst="line">
            <a:avLst/>
          </a:prstGeom>
          <a:noFill/>
          <a:ln w="9525">
            <a:solidFill>
              <a:schemeClr val="tx1"/>
            </a:solidFill>
            <a:round/>
            <a:headEnd/>
            <a:tailEnd/>
          </a:ln>
        </p:spPr>
        <p:txBody>
          <a:bodyPr/>
          <a:lstStyle/>
          <a:p>
            <a:endParaRPr lang="en-US"/>
          </a:p>
        </p:txBody>
      </p:sp>
      <p:sp>
        <p:nvSpPr>
          <p:cNvPr id="25" name="Line 22"/>
          <p:cNvSpPr>
            <a:spLocks noChangeShapeType="1"/>
          </p:cNvSpPr>
          <p:nvPr/>
        </p:nvSpPr>
        <p:spPr bwMode="auto">
          <a:xfrm flipV="1">
            <a:off x="1600200" y="457200"/>
            <a:ext cx="6705600" cy="0"/>
          </a:xfrm>
          <a:prstGeom prst="line">
            <a:avLst/>
          </a:prstGeom>
          <a:noFill/>
          <a:ln w="9525">
            <a:solidFill>
              <a:schemeClr val="tx1"/>
            </a:solidFill>
            <a:round/>
            <a:headEnd/>
            <a:tailEnd/>
          </a:ln>
        </p:spPr>
        <p:txBody>
          <a:bodyPr/>
          <a:lstStyle/>
          <a:p>
            <a:endParaRPr lang="en-US"/>
          </a:p>
        </p:txBody>
      </p:sp>
      <p:sp>
        <p:nvSpPr>
          <p:cNvPr id="26" name="Line 23"/>
          <p:cNvSpPr>
            <a:spLocks noChangeShapeType="1"/>
          </p:cNvSpPr>
          <p:nvPr/>
        </p:nvSpPr>
        <p:spPr bwMode="auto">
          <a:xfrm>
            <a:off x="8305800" y="381000"/>
            <a:ext cx="0" cy="5486400"/>
          </a:xfrm>
          <a:prstGeom prst="line">
            <a:avLst/>
          </a:prstGeom>
          <a:noFill/>
          <a:ln w="9525">
            <a:solidFill>
              <a:schemeClr val="tx1"/>
            </a:solidFill>
            <a:round/>
            <a:headEnd/>
            <a:tailEnd/>
          </a:ln>
        </p:spPr>
        <p:txBody>
          <a:bodyPr/>
          <a:lstStyle/>
          <a:p>
            <a:endParaRPr lang="en-US"/>
          </a:p>
        </p:txBody>
      </p:sp>
      <p:sp>
        <p:nvSpPr>
          <p:cNvPr id="27" name="Line 24"/>
          <p:cNvSpPr>
            <a:spLocks noChangeShapeType="1"/>
          </p:cNvSpPr>
          <p:nvPr/>
        </p:nvSpPr>
        <p:spPr bwMode="auto">
          <a:xfrm flipH="1">
            <a:off x="1524000" y="5867400"/>
            <a:ext cx="6781800" cy="0"/>
          </a:xfrm>
          <a:prstGeom prst="line">
            <a:avLst/>
          </a:prstGeom>
          <a:noFill/>
          <a:ln w="9525">
            <a:solidFill>
              <a:schemeClr val="tx1"/>
            </a:solidFill>
            <a:round/>
            <a:headEnd/>
            <a:tailEnd/>
          </a:ln>
        </p:spPr>
        <p:txBody>
          <a:bodyPr/>
          <a:lstStyle/>
          <a:p>
            <a:endParaRPr lang="en-US"/>
          </a:p>
        </p:txBody>
      </p:sp>
      <p:sp>
        <p:nvSpPr>
          <p:cNvPr id="28" name="Line 25"/>
          <p:cNvSpPr>
            <a:spLocks noChangeShapeType="1"/>
          </p:cNvSpPr>
          <p:nvPr/>
        </p:nvSpPr>
        <p:spPr bwMode="auto">
          <a:xfrm flipV="1">
            <a:off x="1524000" y="5715000"/>
            <a:ext cx="0" cy="152400"/>
          </a:xfrm>
          <a:prstGeom prst="line">
            <a:avLst/>
          </a:prstGeom>
          <a:noFill/>
          <a:ln w="9525">
            <a:solidFill>
              <a:schemeClr val="tx1"/>
            </a:solidFill>
            <a:round/>
            <a:headEnd/>
            <a:tailEnd/>
          </a:ln>
        </p:spPr>
        <p:txBody>
          <a:bodyPr/>
          <a:lstStyle/>
          <a:p>
            <a:endParaRPr lang="en-US"/>
          </a:p>
        </p:txBody>
      </p:sp>
      <p:sp>
        <p:nvSpPr>
          <p:cNvPr id="29" name="Text Box 26"/>
          <p:cNvSpPr txBox="1">
            <a:spLocks noChangeArrowheads="1"/>
          </p:cNvSpPr>
          <p:nvPr/>
        </p:nvSpPr>
        <p:spPr bwMode="auto">
          <a:xfrm>
            <a:off x="6858000" y="609600"/>
            <a:ext cx="1143000" cy="312738"/>
          </a:xfrm>
          <a:prstGeom prst="rect">
            <a:avLst/>
          </a:prstGeom>
          <a:solidFill>
            <a:srgbClr val="D9D9D9"/>
          </a:solidFill>
          <a:ln w="38100">
            <a:solidFill>
              <a:schemeClr val="bg1"/>
            </a:solidFill>
            <a:miter lim="800000"/>
            <a:headEnd/>
            <a:tailEnd/>
          </a:ln>
        </p:spPr>
        <p:txBody>
          <a:bodyPr>
            <a:spAutoFit/>
          </a:bodyPr>
          <a:lstStyle/>
          <a:p>
            <a:pPr algn="ctr">
              <a:spcBef>
                <a:spcPct val="0"/>
              </a:spcBef>
            </a:pPr>
            <a:r>
              <a:rPr lang="en-US" sz="1200" dirty="0"/>
              <a:t>Regional</a:t>
            </a:r>
          </a:p>
        </p:txBody>
      </p:sp>
      <p:sp>
        <p:nvSpPr>
          <p:cNvPr id="30" name="Text Box 27"/>
          <p:cNvSpPr txBox="1">
            <a:spLocks noChangeArrowheads="1"/>
          </p:cNvSpPr>
          <p:nvPr/>
        </p:nvSpPr>
        <p:spPr bwMode="auto">
          <a:xfrm>
            <a:off x="7162800" y="304800"/>
            <a:ext cx="1143000" cy="276999"/>
          </a:xfrm>
          <a:prstGeom prst="rect">
            <a:avLst/>
          </a:prstGeom>
          <a:solidFill>
            <a:schemeClr val="bg1">
              <a:lumMod val="85000"/>
            </a:schemeClr>
          </a:solidFill>
          <a:ln w="38100">
            <a:solidFill>
              <a:schemeClr val="bg1"/>
            </a:solidFill>
            <a:miter lim="800000"/>
            <a:headEnd/>
            <a:tailEnd/>
          </a:ln>
        </p:spPr>
        <p:txBody>
          <a:bodyPr>
            <a:spAutoFit/>
          </a:bodyPr>
          <a:lstStyle/>
          <a:p>
            <a:pPr algn="ctr">
              <a:spcBef>
                <a:spcPct val="0"/>
              </a:spcBef>
            </a:pPr>
            <a:r>
              <a:rPr lang="en-US" sz="1200" dirty="0" smtClean="0"/>
              <a:t>Nat </a:t>
            </a:r>
            <a:r>
              <a:rPr lang="en-US" sz="1200" dirty="0"/>
              <a:t>/ </a:t>
            </a:r>
            <a:r>
              <a:rPr lang="en-US" sz="1200" dirty="0" err="1"/>
              <a:t>Int</a:t>
            </a:r>
            <a:endParaRPr lang="en-US" sz="1200" dirty="0"/>
          </a:p>
        </p:txBody>
      </p:sp>
      <p:sp>
        <p:nvSpPr>
          <p:cNvPr id="31" name="Line 28"/>
          <p:cNvSpPr>
            <a:spLocks noChangeShapeType="1"/>
          </p:cNvSpPr>
          <p:nvPr/>
        </p:nvSpPr>
        <p:spPr bwMode="auto">
          <a:xfrm flipV="1">
            <a:off x="4419600" y="4876800"/>
            <a:ext cx="0" cy="152400"/>
          </a:xfrm>
          <a:prstGeom prst="line">
            <a:avLst/>
          </a:prstGeom>
          <a:noFill/>
          <a:ln w="38100">
            <a:solidFill>
              <a:srgbClr val="000000"/>
            </a:solidFill>
            <a:round/>
            <a:headEnd/>
            <a:tailEnd type="triangle" w="med" len="med"/>
          </a:ln>
        </p:spPr>
        <p:txBody>
          <a:bodyPr/>
          <a:lstStyle/>
          <a:p>
            <a:endParaRPr lang="en-US"/>
          </a:p>
        </p:txBody>
      </p:sp>
      <p:sp>
        <p:nvSpPr>
          <p:cNvPr id="32" name="Line 29"/>
          <p:cNvSpPr>
            <a:spLocks noChangeShapeType="1"/>
          </p:cNvSpPr>
          <p:nvPr/>
        </p:nvSpPr>
        <p:spPr bwMode="auto">
          <a:xfrm>
            <a:off x="3810000" y="1295400"/>
            <a:ext cx="0" cy="152400"/>
          </a:xfrm>
          <a:prstGeom prst="line">
            <a:avLst/>
          </a:prstGeom>
          <a:noFill/>
          <a:ln w="38100">
            <a:solidFill>
              <a:schemeClr val="tx1"/>
            </a:solidFill>
            <a:round/>
            <a:headEnd/>
            <a:tailEnd type="triangle" w="med" len="med"/>
          </a:ln>
        </p:spPr>
        <p:txBody>
          <a:bodyPr/>
          <a:lstStyle/>
          <a:p>
            <a:endParaRPr lang="en-US"/>
          </a:p>
        </p:txBody>
      </p:sp>
      <p:sp>
        <p:nvSpPr>
          <p:cNvPr id="33" name="Line 30"/>
          <p:cNvSpPr>
            <a:spLocks noChangeShapeType="1"/>
          </p:cNvSpPr>
          <p:nvPr/>
        </p:nvSpPr>
        <p:spPr bwMode="auto">
          <a:xfrm>
            <a:off x="3048000" y="3124200"/>
            <a:ext cx="304800" cy="0"/>
          </a:xfrm>
          <a:prstGeom prst="line">
            <a:avLst/>
          </a:prstGeom>
          <a:noFill/>
          <a:ln w="9525">
            <a:solidFill>
              <a:schemeClr val="tx1"/>
            </a:solidFill>
            <a:round/>
            <a:headEnd/>
            <a:tailEnd type="triangle" w="med" len="med"/>
          </a:ln>
        </p:spPr>
        <p:txBody>
          <a:bodyPr/>
          <a:lstStyle/>
          <a:p>
            <a:endParaRPr lang="en-US"/>
          </a:p>
        </p:txBody>
      </p:sp>
      <p:pic>
        <p:nvPicPr>
          <p:cNvPr id="35" name="Picture 34" descr="multimodal-transport.jpg"/>
          <p:cNvPicPr>
            <a:picLocks noChangeAspect="1"/>
          </p:cNvPicPr>
          <p:nvPr/>
        </p:nvPicPr>
        <p:blipFill>
          <a:blip r:embed="rId2" cstate="print"/>
          <a:stretch>
            <a:fillRect/>
          </a:stretch>
        </p:blipFill>
        <p:spPr>
          <a:xfrm>
            <a:off x="6970018" y="6172199"/>
            <a:ext cx="2173982" cy="685799"/>
          </a:xfrm>
          <a:prstGeom prst="rect">
            <a:avLst/>
          </a:prstGeom>
        </p:spPr>
      </p:pic>
      <p:sp>
        <p:nvSpPr>
          <p:cNvPr id="36" name="TextBox 35"/>
          <p:cNvSpPr txBox="1"/>
          <p:nvPr/>
        </p:nvSpPr>
        <p:spPr>
          <a:xfrm>
            <a:off x="3352800" y="6412468"/>
            <a:ext cx="1887248" cy="369332"/>
          </a:xfrm>
          <a:prstGeom prst="rect">
            <a:avLst/>
          </a:prstGeom>
          <a:noFill/>
        </p:spPr>
        <p:txBody>
          <a:bodyPr wrap="none" rtlCol="0">
            <a:spAutoFit/>
          </a:bodyPr>
          <a:lstStyle/>
          <a:p>
            <a:r>
              <a:rPr lang="en-US" dirty="0" err="1" smtClean="0"/>
              <a:t>Kusbiantoro</a:t>
            </a:r>
            <a:r>
              <a:rPr lang="en-US" dirty="0" smtClean="0"/>
              <a:t>, 2011</a:t>
            </a:r>
            <a:endParaRPr lang="en-US" dirty="0"/>
          </a:p>
        </p:txBody>
      </p:sp>
    </p:spTree>
  </p:cSld>
  <p:clrMapOvr>
    <a:masterClrMapping/>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3"/>
          <p:cNvSpPr>
            <a:spLocks noGrp="1" noChangeArrowheads="1"/>
          </p:cNvSpPr>
          <p:nvPr>
            <p:ph type="body" idx="1"/>
          </p:nvPr>
        </p:nvSpPr>
        <p:spPr>
          <a:xfrm>
            <a:off x="533400" y="1905000"/>
            <a:ext cx="8229600" cy="3733800"/>
          </a:xfrm>
        </p:spPr>
        <p:txBody>
          <a:bodyPr>
            <a:noAutofit/>
          </a:bodyPr>
          <a:lstStyle/>
          <a:p>
            <a:pPr eaLnBrk="1" hangingPunct="1">
              <a:lnSpc>
                <a:spcPct val="80000"/>
              </a:lnSpc>
            </a:pPr>
            <a:r>
              <a:rPr lang="en-US" sz="2400" b="1" dirty="0" smtClean="0"/>
              <a:t>Derived demand:</a:t>
            </a:r>
            <a:endParaRPr lang="en-US" sz="2400" b="1" i="1" dirty="0" smtClean="0"/>
          </a:p>
          <a:p>
            <a:pPr lvl="1" eaLnBrk="1" hangingPunct="1">
              <a:lnSpc>
                <a:spcPct val="80000"/>
              </a:lnSpc>
            </a:pPr>
            <a:r>
              <a:rPr lang="en-US" sz="2400" dirty="0" smtClean="0"/>
              <a:t>Individual scale: work, school, recreation, etc</a:t>
            </a:r>
          </a:p>
          <a:p>
            <a:pPr lvl="1" eaLnBrk="1" hangingPunct="1">
              <a:lnSpc>
                <a:spcPct val="80000"/>
              </a:lnSpc>
            </a:pPr>
            <a:r>
              <a:rPr lang="en-US" sz="2400" dirty="0" smtClean="0"/>
              <a:t>Urban and regional scale: connecting housings to commercial/growth centers, connecting production processes from rural to urban area, etc.</a:t>
            </a:r>
          </a:p>
          <a:p>
            <a:pPr lvl="1" eaLnBrk="1" hangingPunct="1">
              <a:lnSpc>
                <a:spcPct val="80000"/>
              </a:lnSpc>
            </a:pPr>
            <a:endParaRPr lang="en-US" sz="2400" dirty="0" smtClean="0"/>
          </a:p>
          <a:p>
            <a:pPr eaLnBrk="1" hangingPunct="1">
              <a:lnSpc>
                <a:spcPct val="80000"/>
              </a:lnSpc>
            </a:pPr>
            <a:r>
              <a:rPr lang="en-US" sz="2400" b="1" dirty="0" smtClean="0"/>
              <a:t>The role of transportation:</a:t>
            </a:r>
          </a:p>
          <a:p>
            <a:pPr lvl="1" eaLnBrk="1" hangingPunct="1">
              <a:lnSpc>
                <a:spcPct val="80000"/>
              </a:lnSpc>
            </a:pPr>
            <a:r>
              <a:rPr lang="en-US" sz="2400" dirty="0" smtClean="0"/>
              <a:t>Passive: serve the dynamic of activity system</a:t>
            </a:r>
          </a:p>
          <a:p>
            <a:pPr lvl="1" eaLnBrk="1" hangingPunct="1">
              <a:lnSpc>
                <a:spcPct val="80000"/>
              </a:lnSpc>
            </a:pPr>
            <a:r>
              <a:rPr lang="en-US" sz="2400" dirty="0" smtClean="0"/>
              <a:t>Active: influence (positive) changes in activity system</a:t>
            </a:r>
          </a:p>
        </p:txBody>
      </p:sp>
      <p:sp>
        <p:nvSpPr>
          <p:cNvPr id="6" name="TextBox 5"/>
          <p:cNvSpPr txBox="1"/>
          <p:nvPr/>
        </p:nvSpPr>
        <p:spPr>
          <a:xfrm>
            <a:off x="3352800" y="6322257"/>
            <a:ext cx="1981169" cy="369332"/>
          </a:xfrm>
          <a:prstGeom prst="rect">
            <a:avLst/>
          </a:prstGeom>
          <a:noFill/>
        </p:spPr>
        <p:txBody>
          <a:bodyPr wrap="none" rtlCol="0">
            <a:spAutoFit/>
          </a:bodyPr>
          <a:lstStyle/>
          <a:p>
            <a:r>
              <a:rPr lang="en-US" dirty="0" err="1" smtClean="0"/>
              <a:t>Kusbiantoro</a:t>
            </a:r>
            <a:r>
              <a:rPr lang="en-US" dirty="0" smtClean="0"/>
              <a:t>, 2011</a:t>
            </a:r>
            <a:endParaRPr lang="en-US" dirty="0"/>
          </a:p>
        </p:txBody>
      </p:sp>
      <p:sp>
        <p:nvSpPr>
          <p:cNvPr id="5" name="Title 4"/>
          <p:cNvSpPr>
            <a:spLocks noGrp="1"/>
          </p:cNvSpPr>
          <p:nvPr>
            <p:ph type="title"/>
          </p:nvPr>
        </p:nvSpPr>
        <p:spPr/>
        <p:txBody>
          <a:bodyPr>
            <a:normAutofit/>
          </a:bodyPr>
          <a:lstStyle/>
          <a:p>
            <a:pPr algn="l"/>
            <a:r>
              <a:rPr lang="en-US" sz="2900" dirty="0" smtClean="0">
                <a:solidFill>
                  <a:schemeClr val="bg1"/>
                </a:solidFill>
              </a:rPr>
              <a:t>Transportation is </a:t>
            </a:r>
            <a:r>
              <a:rPr lang="en-US" sz="2900" b="1" dirty="0" smtClean="0">
                <a:solidFill>
                  <a:schemeClr val="bg1"/>
                </a:solidFill>
              </a:rPr>
              <a:t>not an end</a:t>
            </a:r>
            <a:r>
              <a:rPr lang="en-US" sz="2900" dirty="0" smtClean="0">
                <a:solidFill>
                  <a:schemeClr val="bg1"/>
                </a:solidFill>
              </a:rPr>
              <a:t>, but derived demand</a:t>
            </a:r>
            <a:endParaRPr lang="en-US" sz="2900" dirty="0">
              <a:solidFill>
                <a:schemeClr val="bg1"/>
              </a:solidFill>
            </a:endParaRPr>
          </a:p>
        </p:txBody>
      </p:sp>
    </p:spTree>
    <p:extLst>
      <p:ext uri="{BB962C8B-B14F-4D97-AF65-F5344CB8AC3E}">
        <p14:creationId xmlns:p14="http://schemas.microsoft.com/office/powerpoint/2010/main" val="992048832"/>
      </p:ext>
    </p:extLst>
  </p:cSld>
  <p:clrMapOvr>
    <a:masterClrMapping/>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algn="l"/>
            <a:r>
              <a:rPr lang="en-US" sz="3200" dirty="0" err="1" smtClean="0">
                <a:solidFill>
                  <a:schemeClr val="bg1"/>
                </a:solidFill>
              </a:rPr>
              <a:t>Fricker</a:t>
            </a:r>
            <a:r>
              <a:rPr lang="en-US" sz="3200" dirty="0" smtClean="0">
                <a:solidFill>
                  <a:schemeClr val="bg1"/>
                </a:solidFill>
              </a:rPr>
              <a:t> &amp; </a:t>
            </a:r>
            <a:r>
              <a:rPr lang="en-US" sz="3200" dirty="0" err="1" smtClean="0">
                <a:solidFill>
                  <a:schemeClr val="bg1"/>
                </a:solidFill>
              </a:rPr>
              <a:t>Whitford</a:t>
            </a:r>
            <a:r>
              <a:rPr lang="en-US" sz="3200" dirty="0" smtClean="0">
                <a:solidFill>
                  <a:schemeClr val="bg1"/>
                </a:solidFill>
              </a:rPr>
              <a:t> (2004) illustrated transportation system as a simple stool with three legs.</a:t>
            </a:r>
            <a:endParaRPr lang="en-US" sz="3200" dirty="0">
              <a:solidFill>
                <a:schemeClr val="bg1"/>
              </a:solidFill>
            </a:endParaRPr>
          </a:p>
        </p:txBody>
      </p:sp>
      <p:sp>
        <p:nvSpPr>
          <p:cNvPr id="7" name="Content Placeholder 6"/>
          <p:cNvSpPr>
            <a:spLocks noGrp="1"/>
          </p:cNvSpPr>
          <p:nvPr>
            <p:ph idx="1"/>
          </p:nvPr>
        </p:nvSpPr>
        <p:spPr>
          <a:xfrm>
            <a:off x="609600" y="2286000"/>
            <a:ext cx="8229600" cy="3429000"/>
          </a:xfrm>
        </p:spPr>
        <p:txBody>
          <a:bodyPr>
            <a:normAutofit/>
          </a:bodyPr>
          <a:lstStyle/>
          <a:p>
            <a:r>
              <a:rPr lang="en-US" sz="2500" dirty="0" smtClean="0"/>
              <a:t>One leg represents the </a:t>
            </a:r>
            <a:r>
              <a:rPr lang="en-US" sz="2500" b="1" dirty="0" smtClean="0"/>
              <a:t>components of the system</a:t>
            </a:r>
            <a:endParaRPr lang="en-US" sz="2500" dirty="0" smtClean="0"/>
          </a:p>
          <a:p>
            <a:r>
              <a:rPr lang="en-US" sz="2500" dirty="0" smtClean="0"/>
              <a:t>A second leg stands for those activities involved in </a:t>
            </a:r>
            <a:r>
              <a:rPr lang="en-US" sz="2500" b="1" dirty="0" smtClean="0"/>
              <a:t>putting a transportation system in place</a:t>
            </a:r>
            <a:r>
              <a:rPr lang="en-US" sz="2500" dirty="0" smtClean="0"/>
              <a:t>, from planning to operation and maintenance</a:t>
            </a:r>
          </a:p>
          <a:p>
            <a:r>
              <a:rPr lang="en-US" sz="2500" dirty="0" smtClean="0"/>
              <a:t>The third leg identifies issues that may not be included in the transportation decision making processes, although they may be affected by the decisions </a:t>
            </a:r>
            <a:r>
              <a:rPr lang="en-US" sz="2500" dirty="0" smtClean="0">
                <a:sym typeface="Wingdings" pitchFamily="2" charset="2"/>
              </a:rPr>
              <a:t> </a:t>
            </a:r>
            <a:r>
              <a:rPr lang="en-US" sz="2500" b="1" dirty="0" smtClean="0">
                <a:sym typeface="Wingdings" pitchFamily="2" charset="2"/>
              </a:rPr>
              <a:t>“externalities”</a:t>
            </a:r>
            <a:endParaRPr lang="en-US" sz="2500" b="1" dirty="0"/>
          </a:p>
        </p:txBody>
      </p:sp>
      <p:sp>
        <p:nvSpPr>
          <p:cNvPr id="8" name="TextBox 7"/>
          <p:cNvSpPr txBox="1"/>
          <p:nvPr/>
        </p:nvSpPr>
        <p:spPr>
          <a:xfrm>
            <a:off x="3352800" y="6412468"/>
            <a:ext cx="2498376" cy="369332"/>
          </a:xfrm>
          <a:prstGeom prst="rect">
            <a:avLst/>
          </a:prstGeom>
          <a:noFill/>
        </p:spPr>
        <p:txBody>
          <a:bodyPr wrap="none" rtlCol="0">
            <a:spAutoFit/>
          </a:bodyPr>
          <a:lstStyle/>
          <a:p>
            <a:r>
              <a:rPr lang="en-US" dirty="0" err="1" smtClean="0"/>
              <a:t>Fricker</a:t>
            </a:r>
            <a:r>
              <a:rPr lang="en-US" dirty="0" smtClean="0"/>
              <a:t> &amp; </a:t>
            </a:r>
            <a:r>
              <a:rPr lang="en-US" dirty="0" err="1" smtClean="0"/>
              <a:t>Whitford</a:t>
            </a:r>
            <a:r>
              <a:rPr lang="en-US" dirty="0" smtClean="0"/>
              <a:t>, 2004</a:t>
            </a:r>
            <a:endParaRPr lang="en-US" dirty="0"/>
          </a:p>
        </p:txBody>
      </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Picture 4" descr="MORRISON-stools.jpg"/>
          <p:cNvPicPr>
            <a:picLocks noChangeAspect="1"/>
          </p:cNvPicPr>
          <p:nvPr/>
        </p:nvPicPr>
        <p:blipFill>
          <a:blip r:embed="rId2"/>
          <a:stretch>
            <a:fillRect/>
          </a:stretch>
        </p:blipFill>
        <p:spPr>
          <a:xfrm>
            <a:off x="152400" y="304800"/>
            <a:ext cx="8829675" cy="5686425"/>
          </a:xfrm>
          <a:prstGeom prst="rect">
            <a:avLst/>
          </a:prstGeom>
        </p:spPr>
      </p:pic>
      <p:sp>
        <p:nvSpPr>
          <p:cNvPr id="6" name="TextBox 5"/>
          <p:cNvSpPr txBox="1"/>
          <p:nvPr/>
        </p:nvSpPr>
        <p:spPr>
          <a:xfrm>
            <a:off x="3276600" y="1295400"/>
            <a:ext cx="2734082" cy="369332"/>
          </a:xfrm>
          <a:prstGeom prst="rect">
            <a:avLst/>
          </a:prstGeom>
          <a:noFill/>
        </p:spPr>
        <p:txBody>
          <a:bodyPr wrap="none" rtlCol="0">
            <a:spAutoFit/>
          </a:bodyPr>
          <a:lstStyle/>
          <a:p>
            <a:r>
              <a:rPr lang="en-US" b="1" dirty="0" smtClean="0">
                <a:solidFill>
                  <a:srgbClr val="C00000"/>
                </a:solidFill>
              </a:rPr>
              <a:t>The Transportation System</a:t>
            </a:r>
            <a:endParaRPr lang="en-US" b="1" dirty="0">
              <a:solidFill>
                <a:srgbClr val="C00000"/>
              </a:solidFill>
            </a:endParaRPr>
          </a:p>
        </p:txBody>
      </p:sp>
      <p:sp>
        <p:nvSpPr>
          <p:cNvPr id="7" name="TextBox 6"/>
          <p:cNvSpPr txBox="1"/>
          <p:nvPr/>
        </p:nvSpPr>
        <p:spPr>
          <a:xfrm>
            <a:off x="1752600" y="5334000"/>
            <a:ext cx="1945917" cy="646331"/>
          </a:xfrm>
          <a:prstGeom prst="rect">
            <a:avLst/>
          </a:prstGeom>
          <a:noFill/>
        </p:spPr>
        <p:txBody>
          <a:bodyPr wrap="none" rtlCol="0">
            <a:spAutoFit/>
          </a:bodyPr>
          <a:lstStyle/>
          <a:p>
            <a:pPr algn="ctr"/>
            <a:r>
              <a:rPr lang="en-US" dirty="0" smtClean="0"/>
              <a:t>Putting the System</a:t>
            </a:r>
          </a:p>
          <a:p>
            <a:pPr algn="ctr"/>
            <a:r>
              <a:rPr lang="en-US" dirty="0" smtClean="0"/>
              <a:t>In Place</a:t>
            </a:r>
            <a:endParaRPr lang="en-US" dirty="0"/>
          </a:p>
        </p:txBody>
      </p:sp>
      <p:sp>
        <p:nvSpPr>
          <p:cNvPr id="8" name="TextBox 7"/>
          <p:cNvSpPr txBox="1"/>
          <p:nvPr/>
        </p:nvSpPr>
        <p:spPr>
          <a:xfrm>
            <a:off x="3810000" y="4495800"/>
            <a:ext cx="1878977" cy="369332"/>
          </a:xfrm>
          <a:prstGeom prst="rect">
            <a:avLst/>
          </a:prstGeom>
          <a:noFill/>
        </p:spPr>
        <p:txBody>
          <a:bodyPr wrap="none" rtlCol="0">
            <a:spAutoFit/>
          </a:bodyPr>
          <a:lstStyle/>
          <a:p>
            <a:pPr algn="ctr"/>
            <a:r>
              <a:rPr lang="en-US" dirty="0" smtClean="0"/>
              <a:t>Issues for Viability</a:t>
            </a:r>
            <a:endParaRPr lang="en-US" dirty="0"/>
          </a:p>
        </p:txBody>
      </p:sp>
      <p:sp>
        <p:nvSpPr>
          <p:cNvPr id="9" name="TextBox 8"/>
          <p:cNvSpPr txBox="1"/>
          <p:nvPr/>
        </p:nvSpPr>
        <p:spPr>
          <a:xfrm>
            <a:off x="4876800" y="5486400"/>
            <a:ext cx="3055195" cy="369332"/>
          </a:xfrm>
          <a:prstGeom prst="rect">
            <a:avLst/>
          </a:prstGeom>
          <a:noFill/>
        </p:spPr>
        <p:txBody>
          <a:bodyPr wrap="none" rtlCol="0">
            <a:spAutoFit/>
          </a:bodyPr>
          <a:lstStyle/>
          <a:p>
            <a:pPr algn="ctr"/>
            <a:r>
              <a:rPr lang="en-US" dirty="0" smtClean="0"/>
              <a:t>Components of Transportation</a:t>
            </a:r>
            <a:endParaRPr lang="en-US" dirty="0"/>
          </a:p>
        </p:txBody>
      </p:sp>
      <p:sp>
        <p:nvSpPr>
          <p:cNvPr id="10" name="TextBox 9"/>
          <p:cNvSpPr txBox="1"/>
          <p:nvPr/>
        </p:nvSpPr>
        <p:spPr>
          <a:xfrm>
            <a:off x="3352800" y="6412468"/>
            <a:ext cx="2498376" cy="369332"/>
          </a:xfrm>
          <a:prstGeom prst="rect">
            <a:avLst/>
          </a:prstGeom>
          <a:noFill/>
        </p:spPr>
        <p:txBody>
          <a:bodyPr wrap="none" rtlCol="0">
            <a:spAutoFit/>
          </a:bodyPr>
          <a:lstStyle/>
          <a:p>
            <a:r>
              <a:rPr lang="en-US" dirty="0" err="1" smtClean="0"/>
              <a:t>Fricker</a:t>
            </a:r>
            <a:r>
              <a:rPr lang="en-US" dirty="0" smtClean="0"/>
              <a:t> &amp; </a:t>
            </a:r>
            <a:r>
              <a:rPr lang="en-US" dirty="0" err="1" smtClean="0"/>
              <a:t>Whitford</a:t>
            </a:r>
            <a:r>
              <a:rPr lang="en-US" dirty="0" smtClean="0"/>
              <a:t>, 2004</a:t>
            </a:r>
            <a:endParaRPr lang="en-US" dirty="0"/>
          </a:p>
        </p:txBody>
      </p:sp>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Picture 4" descr="MORRISON-stools.jpg"/>
          <p:cNvPicPr>
            <a:picLocks noChangeAspect="1"/>
          </p:cNvPicPr>
          <p:nvPr/>
        </p:nvPicPr>
        <p:blipFill>
          <a:blip r:embed="rId2"/>
          <a:stretch>
            <a:fillRect/>
          </a:stretch>
        </p:blipFill>
        <p:spPr>
          <a:xfrm>
            <a:off x="152400" y="304800"/>
            <a:ext cx="8829675" cy="5686425"/>
          </a:xfrm>
          <a:prstGeom prst="rect">
            <a:avLst/>
          </a:prstGeom>
        </p:spPr>
      </p:pic>
      <p:sp>
        <p:nvSpPr>
          <p:cNvPr id="6" name="TextBox 5"/>
          <p:cNvSpPr txBox="1"/>
          <p:nvPr/>
        </p:nvSpPr>
        <p:spPr>
          <a:xfrm>
            <a:off x="3276600" y="1295400"/>
            <a:ext cx="2681824" cy="369332"/>
          </a:xfrm>
          <a:prstGeom prst="rect">
            <a:avLst/>
          </a:prstGeom>
          <a:noFill/>
        </p:spPr>
        <p:txBody>
          <a:bodyPr wrap="none" rtlCol="0">
            <a:spAutoFit/>
          </a:bodyPr>
          <a:lstStyle/>
          <a:p>
            <a:r>
              <a:rPr lang="en-US" dirty="0" smtClean="0"/>
              <a:t>The Transportation System</a:t>
            </a:r>
            <a:endParaRPr lang="en-US" dirty="0"/>
          </a:p>
        </p:txBody>
      </p:sp>
      <p:sp>
        <p:nvSpPr>
          <p:cNvPr id="7" name="TextBox 6"/>
          <p:cNvSpPr txBox="1"/>
          <p:nvPr/>
        </p:nvSpPr>
        <p:spPr>
          <a:xfrm>
            <a:off x="1752600" y="5334000"/>
            <a:ext cx="1984839" cy="646331"/>
          </a:xfrm>
          <a:prstGeom prst="rect">
            <a:avLst/>
          </a:prstGeom>
          <a:noFill/>
        </p:spPr>
        <p:txBody>
          <a:bodyPr wrap="none" rtlCol="0">
            <a:spAutoFit/>
          </a:bodyPr>
          <a:lstStyle/>
          <a:p>
            <a:pPr algn="ctr"/>
            <a:r>
              <a:rPr lang="en-US" dirty="0" smtClean="0"/>
              <a:t>Putting the System</a:t>
            </a:r>
          </a:p>
          <a:p>
            <a:pPr algn="ctr"/>
            <a:r>
              <a:rPr lang="en-US" dirty="0" smtClean="0"/>
              <a:t>In Place</a:t>
            </a:r>
            <a:endParaRPr lang="en-US" dirty="0"/>
          </a:p>
        </p:txBody>
      </p:sp>
      <p:sp>
        <p:nvSpPr>
          <p:cNvPr id="8" name="TextBox 7"/>
          <p:cNvSpPr txBox="1"/>
          <p:nvPr/>
        </p:nvSpPr>
        <p:spPr>
          <a:xfrm>
            <a:off x="3810000" y="4495800"/>
            <a:ext cx="1926874" cy="369332"/>
          </a:xfrm>
          <a:prstGeom prst="rect">
            <a:avLst/>
          </a:prstGeom>
          <a:noFill/>
        </p:spPr>
        <p:txBody>
          <a:bodyPr wrap="none" rtlCol="0">
            <a:spAutoFit/>
          </a:bodyPr>
          <a:lstStyle/>
          <a:p>
            <a:pPr algn="ctr"/>
            <a:r>
              <a:rPr lang="en-US" dirty="0" smtClean="0"/>
              <a:t>Issues for Viability</a:t>
            </a:r>
            <a:endParaRPr lang="en-US" dirty="0"/>
          </a:p>
        </p:txBody>
      </p:sp>
      <p:sp>
        <p:nvSpPr>
          <p:cNvPr id="9" name="TextBox 8"/>
          <p:cNvSpPr txBox="1"/>
          <p:nvPr/>
        </p:nvSpPr>
        <p:spPr>
          <a:xfrm>
            <a:off x="4876800" y="5486400"/>
            <a:ext cx="3107582" cy="369332"/>
          </a:xfrm>
          <a:prstGeom prst="rect">
            <a:avLst/>
          </a:prstGeom>
          <a:noFill/>
        </p:spPr>
        <p:txBody>
          <a:bodyPr wrap="none" rtlCol="0">
            <a:spAutoFit/>
          </a:bodyPr>
          <a:lstStyle/>
          <a:p>
            <a:pPr algn="ctr"/>
            <a:r>
              <a:rPr lang="en-US" b="1" dirty="0" smtClean="0">
                <a:solidFill>
                  <a:srgbClr val="C00000"/>
                </a:solidFill>
              </a:rPr>
              <a:t>Components of Transportation</a:t>
            </a:r>
            <a:endParaRPr lang="en-US" b="1" dirty="0">
              <a:solidFill>
                <a:srgbClr val="C00000"/>
              </a:solidFill>
            </a:endParaRPr>
          </a:p>
        </p:txBody>
      </p:sp>
      <p:sp>
        <p:nvSpPr>
          <p:cNvPr id="11" name="Line Callout 1 (Border and Accent Bar) 10"/>
          <p:cNvSpPr/>
          <p:nvPr/>
        </p:nvSpPr>
        <p:spPr>
          <a:xfrm flipH="1">
            <a:off x="0" y="2362200"/>
            <a:ext cx="3505200" cy="1828800"/>
          </a:xfrm>
          <a:prstGeom prst="accentBorderCallout1">
            <a:avLst>
              <a:gd name="adj1" fmla="val 18750"/>
              <a:gd name="adj2" fmla="val -8333"/>
              <a:gd name="adj3" fmla="val 66243"/>
              <a:gd name="adj4" fmla="val -670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C00000"/>
                </a:solidFill>
              </a:rPr>
              <a:t>Modal Diversity</a:t>
            </a:r>
          </a:p>
          <a:p>
            <a:pPr algn="ctr"/>
            <a:r>
              <a:rPr lang="en-US" b="1" dirty="0" smtClean="0">
                <a:solidFill>
                  <a:srgbClr val="C00000"/>
                </a:solidFill>
              </a:rPr>
              <a:t>Vehicles</a:t>
            </a:r>
          </a:p>
          <a:p>
            <a:pPr algn="ctr"/>
            <a:r>
              <a:rPr lang="en-US" b="1" dirty="0" smtClean="0">
                <a:solidFill>
                  <a:srgbClr val="C00000"/>
                </a:solidFill>
              </a:rPr>
              <a:t>(Right-of-) Way</a:t>
            </a:r>
          </a:p>
          <a:p>
            <a:pPr algn="ctr"/>
            <a:r>
              <a:rPr lang="en-US" b="1" dirty="0" smtClean="0">
                <a:solidFill>
                  <a:srgbClr val="C00000"/>
                </a:solidFill>
              </a:rPr>
              <a:t>Power Control</a:t>
            </a:r>
          </a:p>
          <a:p>
            <a:pPr algn="ctr"/>
            <a:r>
              <a:rPr lang="en-US" b="1" dirty="0" smtClean="0">
                <a:solidFill>
                  <a:srgbClr val="C00000"/>
                </a:solidFill>
              </a:rPr>
              <a:t>Technology of Movement</a:t>
            </a:r>
          </a:p>
          <a:p>
            <a:pPr algn="ctr"/>
            <a:r>
              <a:rPr lang="en-US" b="1" dirty="0" smtClean="0">
                <a:solidFill>
                  <a:srgbClr val="C00000"/>
                </a:solidFill>
              </a:rPr>
              <a:t>Interconnection</a:t>
            </a:r>
            <a:endParaRPr lang="en-US" b="1" dirty="0">
              <a:solidFill>
                <a:srgbClr val="C00000"/>
              </a:solidFill>
            </a:endParaRPr>
          </a:p>
        </p:txBody>
      </p:sp>
      <p:sp>
        <p:nvSpPr>
          <p:cNvPr id="12" name="Line Callout 1 (Border and Accent Bar) 11"/>
          <p:cNvSpPr/>
          <p:nvPr/>
        </p:nvSpPr>
        <p:spPr>
          <a:xfrm>
            <a:off x="6629400" y="2819400"/>
            <a:ext cx="2514600" cy="1447800"/>
          </a:xfrm>
          <a:prstGeom prst="accentBorderCallout1">
            <a:avLst>
              <a:gd name="adj1" fmla="val 18750"/>
              <a:gd name="adj2" fmla="val -8333"/>
              <a:gd name="adj3" fmla="val 98878"/>
              <a:gd name="adj4" fmla="val -3224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C00000"/>
                </a:solidFill>
              </a:rPr>
              <a:t>Drivers</a:t>
            </a:r>
          </a:p>
          <a:p>
            <a:pPr algn="ctr"/>
            <a:r>
              <a:rPr lang="en-US" b="1" dirty="0" smtClean="0">
                <a:solidFill>
                  <a:srgbClr val="C00000"/>
                </a:solidFill>
              </a:rPr>
              <a:t>Pilots</a:t>
            </a:r>
          </a:p>
          <a:p>
            <a:pPr algn="ctr"/>
            <a:r>
              <a:rPr lang="en-US" b="1" dirty="0" smtClean="0">
                <a:solidFill>
                  <a:srgbClr val="C00000"/>
                </a:solidFill>
              </a:rPr>
              <a:t>Passengers</a:t>
            </a:r>
          </a:p>
          <a:p>
            <a:pPr algn="ctr"/>
            <a:r>
              <a:rPr lang="en-US" b="1" dirty="0" smtClean="0">
                <a:solidFill>
                  <a:srgbClr val="C00000"/>
                </a:solidFill>
              </a:rPr>
              <a:t>Freight</a:t>
            </a:r>
            <a:endParaRPr lang="en-US" b="1" dirty="0">
              <a:solidFill>
                <a:srgbClr val="C00000"/>
              </a:solidFill>
            </a:endParaRPr>
          </a:p>
        </p:txBody>
      </p:sp>
      <p:sp>
        <p:nvSpPr>
          <p:cNvPr id="13" name="TextBox 12"/>
          <p:cNvSpPr txBox="1"/>
          <p:nvPr/>
        </p:nvSpPr>
        <p:spPr>
          <a:xfrm>
            <a:off x="3352800" y="6412468"/>
            <a:ext cx="2498376" cy="369332"/>
          </a:xfrm>
          <a:prstGeom prst="rect">
            <a:avLst/>
          </a:prstGeom>
          <a:noFill/>
        </p:spPr>
        <p:txBody>
          <a:bodyPr wrap="none" rtlCol="0">
            <a:spAutoFit/>
          </a:bodyPr>
          <a:lstStyle/>
          <a:p>
            <a:r>
              <a:rPr lang="en-US" dirty="0" err="1" smtClean="0"/>
              <a:t>Fricker</a:t>
            </a:r>
            <a:r>
              <a:rPr lang="en-US" dirty="0" smtClean="0"/>
              <a:t> &amp; </a:t>
            </a:r>
            <a:r>
              <a:rPr lang="en-US" dirty="0" err="1" smtClean="0"/>
              <a:t>Whitford</a:t>
            </a:r>
            <a:r>
              <a:rPr lang="en-US" dirty="0" smtClean="0"/>
              <a:t>, 2004</a:t>
            </a:r>
            <a:endParaRPr lang="en-US" dirty="0"/>
          </a:p>
        </p:txBody>
      </p:sp>
    </p:spTree>
  </p:cSld>
  <p:clrMapOvr>
    <a:masterClrMapping/>
  </p:clrMapOvr>
  <p:transition>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solidFill>
                  <a:schemeClr val="bg1"/>
                </a:solidFill>
              </a:rPr>
              <a:t>INTERNAL TRANSPORTATION SYSTEM COMPONENTS</a:t>
            </a:r>
            <a:endParaRPr lang="en-US" sz="3600" dirty="0">
              <a:solidFill>
                <a:schemeClr val="bg1"/>
              </a:solidFill>
            </a:endParaRPr>
          </a:p>
        </p:txBody>
      </p:sp>
      <p:pic>
        <p:nvPicPr>
          <p:cNvPr id="4" name="Picture 3"/>
          <p:cNvPicPr>
            <a:picLocks noChangeAspect="1"/>
          </p:cNvPicPr>
          <p:nvPr/>
        </p:nvPicPr>
        <p:blipFill>
          <a:blip r:embed="rId2"/>
          <a:stretch>
            <a:fillRect/>
          </a:stretch>
        </p:blipFill>
        <p:spPr>
          <a:xfrm>
            <a:off x="-1" y="1907655"/>
            <a:ext cx="9144001" cy="3171534"/>
          </a:xfrm>
          <a:prstGeom prst="rect">
            <a:avLst/>
          </a:prstGeom>
        </p:spPr>
      </p:pic>
      <p:sp>
        <p:nvSpPr>
          <p:cNvPr id="5" name="TextBox 4"/>
          <p:cNvSpPr txBox="1"/>
          <p:nvPr/>
        </p:nvSpPr>
        <p:spPr>
          <a:xfrm>
            <a:off x="3814670" y="6324600"/>
            <a:ext cx="1514657" cy="369332"/>
          </a:xfrm>
          <a:prstGeom prst="rect">
            <a:avLst/>
          </a:prstGeom>
          <a:noFill/>
        </p:spPr>
        <p:txBody>
          <a:bodyPr wrap="none" rtlCol="0">
            <a:spAutoFit/>
          </a:bodyPr>
          <a:lstStyle/>
          <a:p>
            <a:pPr algn="r"/>
            <a:r>
              <a:rPr lang="en-US" dirty="0" smtClean="0"/>
              <a:t>Dodder, 2000</a:t>
            </a:r>
            <a:endParaRPr lang="en-US" dirty="0"/>
          </a:p>
        </p:txBody>
      </p:sp>
    </p:spTree>
    <p:extLst>
      <p:ext uri="{BB962C8B-B14F-4D97-AF65-F5344CB8AC3E}">
        <p14:creationId xmlns:p14="http://schemas.microsoft.com/office/powerpoint/2010/main" val="3675898762"/>
      </p:ext>
    </p:extLst>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Picture 4" descr="MORRISON-stools.jpg"/>
          <p:cNvPicPr>
            <a:picLocks noChangeAspect="1"/>
          </p:cNvPicPr>
          <p:nvPr/>
        </p:nvPicPr>
        <p:blipFill>
          <a:blip r:embed="rId2"/>
          <a:stretch>
            <a:fillRect/>
          </a:stretch>
        </p:blipFill>
        <p:spPr>
          <a:xfrm>
            <a:off x="152400" y="304800"/>
            <a:ext cx="8829675" cy="5686425"/>
          </a:xfrm>
          <a:prstGeom prst="rect">
            <a:avLst/>
          </a:prstGeom>
        </p:spPr>
      </p:pic>
      <p:sp>
        <p:nvSpPr>
          <p:cNvPr id="6" name="TextBox 5"/>
          <p:cNvSpPr txBox="1"/>
          <p:nvPr/>
        </p:nvSpPr>
        <p:spPr>
          <a:xfrm>
            <a:off x="3276600" y="1295400"/>
            <a:ext cx="2681824" cy="369332"/>
          </a:xfrm>
          <a:prstGeom prst="rect">
            <a:avLst/>
          </a:prstGeom>
          <a:noFill/>
        </p:spPr>
        <p:txBody>
          <a:bodyPr wrap="none" rtlCol="0">
            <a:spAutoFit/>
          </a:bodyPr>
          <a:lstStyle/>
          <a:p>
            <a:r>
              <a:rPr lang="en-US" dirty="0" smtClean="0"/>
              <a:t>The Transportation System</a:t>
            </a:r>
            <a:endParaRPr lang="en-US" dirty="0"/>
          </a:p>
        </p:txBody>
      </p:sp>
      <p:sp>
        <p:nvSpPr>
          <p:cNvPr id="7" name="TextBox 6"/>
          <p:cNvSpPr txBox="1"/>
          <p:nvPr/>
        </p:nvSpPr>
        <p:spPr>
          <a:xfrm>
            <a:off x="1752600" y="5334000"/>
            <a:ext cx="1984839" cy="646331"/>
          </a:xfrm>
          <a:prstGeom prst="rect">
            <a:avLst/>
          </a:prstGeom>
          <a:noFill/>
        </p:spPr>
        <p:txBody>
          <a:bodyPr wrap="none" rtlCol="0">
            <a:spAutoFit/>
          </a:bodyPr>
          <a:lstStyle/>
          <a:p>
            <a:pPr algn="ctr"/>
            <a:r>
              <a:rPr lang="en-US" b="1" dirty="0" smtClean="0">
                <a:solidFill>
                  <a:srgbClr val="C00000"/>
                </a:solidFill>
              </a:rPr>
              <a:t>Putting the System</a:t>
            </a:r>
          </a:p>
          <a:p>
            <a:pPr algn="ctr"/>
            <a:r>
              <a:rPr lang="en-US" b="1" dirty="0" smtClean="0">
                <a:solidFill>
                  <a:srgbClr val="C00000"/>
                </a:solidFill>
              </a:rPr>
              <a:t>In Place</a:t>
            </a:r>
            <a:endParaRPr lang="en-US" b="1" dirty="0">
              <a:solidFill>
                <a:srgbClr val="C00000"/>
              </a:solidFill>
            </a:endParaRPr>
          </a:p>
        </p:txBody>
      </p:sp>
      <p:sp>
        <p:nvSpPr>
          <p:cNvPr id="8" name="TextBox 7"/>
          <p:cNvSpPr txBox="1"/>
          <p:nvPr/>
        </p:nvSpPr>
        <p:spPr>
          <a:xfrm>
            <a:off x="3810000" y="4495800"/>
            <a:ext cx="1878977" cy="369332"/>
          </a:xfrm>
          <a:prstGeom prst="rect">
            <a:avLst/>
          </a:prstGeom>
          <a:noFill/>
        </p:spPr>
        <p:txBody>
          <a:bodyPr wrap="none" rtlCol="0">
            <a:spAutoFit/>
          </a:bodyPr>
          <a:lstStyle/>
          <a:p>
            <a:pPr algn="ctr"/>
            <a:r>
              <a:rPr lang="en-US" dirty="0" smtClean="0"/>
              <a:t>Issues for Viability</a:t>
            </a:r>
            <a:endParaRPr lang="en-US" dirty="0"/>
          </a:p>
        </p:txBody>
      </p:sp>
      <p:sp>
        <p:nvSpPr>
          <p:cNvPr id="9" name="TextBox 8"/>
          <p:cNvSpPr txBox="1"/>
          <p:nvPr/>
        </p:nvSpPr>
        <p:spPr>
          <a:xfrm>
            <a:off x="4876800" y="5486400"/>
            <a:ext cx="3055195" cy="369332"/>
          </a:xfrm>
          <a:prstGeom prst="rect">
            <a:avLst/>
          </a:prstGeom>
          <a:noFill/>
        </p:spPr>
        <p:txBody>
          <a:bodyPr wrap="none" rtlCol="0">
            <a:spAutoFit/>
          </a:bodyPr>
          <a:lstStyle/>
          <a:p>
            <a:pPr algn="ctr"/>
            <a:r>
              <a:rPr lang="en-US" dirty="0" smtClean="0"/>
              <a:t>Components of Transportation</a:t>
            </a:r>
            <a:endParaRPr lang="en-US" dirty="0"/>
          </a:p>
        </p:txBody>
      </p:sp>
      <p:sp>
        <p:nvSpPr>
          <p:cNvPr id="11" name="Line Callout 1 (Border and Accent Bar) 10"/>
          <p:cNvSpPr/>
          <p:nvPr/>
        </p:nvSpPr>
        <p:spPr>
          <a:xfrm flipH="1">
            <a:off x="0" y="1981200"/>
            <a:ext cx="2133600" cy="1676400"/>
          </a:xfrm>
          <a:prstGeom prst="accentBorderCallout1">
            <a:avLst>
              <a:gd name="adj1" fmla="val 18750"/>
              <a:gd name="adj2" fmla="val -8333"/>
              <a:gd name="adj3" fmla="val 80414"/>
              <a:gd name="adj4" fmla="val -4190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C00000"/>
                </a:solidFill>
              </a:rPr>
              <a:t>Plan</a:t>
            </a:r>
          </a:p>
          <a:p>
            <a:pPr algn="ctr"/>
            <a:r>
              <a:rPr lang="en-US" b="1" dirty="0" smtClean="0">
                <a:solidFill>
                  <a:srgbClr val="C00000"/>
                </a:solidFill>
              </a:rPr>
              <a:t>Design</a:t>
            </a:r>
          </a:p>
          <a:p>
            <a:pPr algn="ctr"/>
            <a:r>
              <a:rPr lang="en-US" b="1" dirty="0" smtClean="0">
                <a:solidFill>
                  <a:srgbClr val="C00000"/>
                </a:solidFill>
              </a:rPr>
              <a:t>Invest</a:t>
            </a:r>
          </a:p>
          <a:p>
            <a:pPr algn="ctr"/>
            <a:r>
              <a:rPr lang="en-US" b="1" dirty="0" smtClean="0">
                <a:solidFill>
                  <a:srgbClr val="C00000"/>
                </a:solidFill>
              </a:rPr>
              <a:t>Operate</a:t>
            </a:r>
          </a:p>
          <a:p>
            <a:pPr algn="ctr"/>
            <a:r>
              <a:rPr lang="en-US" b="1" dirty="0" smtClean="0">
                <a:solidFill>
                  <a:srgbClr val="C00000"/>
                </a:solidFill>
              </a:rPr>
              <a:t>Maintain</a:t>
            </a:r>
            <a:endParaRPr lang="en-US" b="1" dirty="0">
              <a:solidFill>
                <a:srgbClr val="C00000"/>
              </a:solidFill>
            </a:endParaRPr>
          </a:p>
        </p:txBody>
      </p:sp>
      <p:sp>
        <p:nvSpPr>
          <p:cNvPr id="12" name="Line Callout 1 (Border and Accent Bar) 11"/>
          <p:cNvSpPr/>
          <p:nvPr/>
        </p:nvSpPr>
        <p:spPr>
          <a:xfrm>
            <a:off x="6629400" y="2819400"/>
            <a:ext cx="2514600" cy="1447800"/>
          </a:xfrm>
          <a:prstGeom prst="accentBorderCallout1">
            <a:avLst>
              <a:gd name="adj1" fmla="val 18750"/>
              <a:gd name="adj2" fmla="val -8333"/>
              <a:gd name="adj3" fmla="val 95163"/>
              <a:gd name="adj4" fmla="val -14561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C00000"/>
                </a:solidFill>
              </a:rPr>
              <a:t>Service Quality</a:t>
            </a:r>
          </a:p>
          <a:p>
            <a:pPr algn="ctr"/>
            <a:r>
              <a:rPr lang="en-US" b="1" dirty="0" smtClean="0">
                <a:solidFill>
                  <a:srgbClr val="C00000"/>
                </a:solidFill>
              </a:rPr>
              <a:t>Pricing</a:t>
            </a:r>
          </a:p>
          <a:p>
            <a:pPr algn="ctr"/>
            <a:r>
              <a:rPr lang="en-US" b="1" dirty="0" smtClean="0">
                <a:solidFill>
                  <a:srgbClr val="C00000"/>
                </a:solidFill>
              </a:rPr>
              <a:t>Consumer Demand</a:t>
            </a:r>
            <a:endParaRPr lang="en-US" b="1" dirty="0">
              <a:solidFill>
                <a:srgbClr val="C00000"/>
              </a:solidFill>
            </a:endParaRPr>
          </a:p>
        </p:txBody>
      </p:sp>
      <p:sp>
        <p:nvSpPr>
          <p:cNvPr id="13" name="TextBox 12"/>
          <p:cNvSpPr txBox="1"/>
          <p:nvPr/>
        </p:nvSpPr>
        <p:spPr>
          <a:xfrm>
            <a:off x="3352800" y="6412468"/>
            <a:ext cx="2498376" cy="369332"/>
          </a:xfrm>
          <a:prstGeom prst="rect">
            <a:avLst/>
          </a:prstGeom>
          <a:noFill/>
        </p:spPr>
        <p:txBody>
          <a:bodyPr wrap="none" rtlCol="0">
            <a:spAutoFit/>
          </a:bodyPr>
          <a:lstStyle/>
          <a:p>
            <a:r>
              <a:rPr lang="en-US" dirty="0" err="1" smtClean="0"/>
              <a:t>Fricker</a:t>
            </a:r>
            <a:r>
              <a:rPr lang="en-US" dirty="0" smtClean="0"/>
              <a:t> &amp; </a:t>
            </a:r>
            <a:r>
              <a:rPr lang="en-US" dirty="0" err="1" smtClean="0"/>
              <a:t>Whitford</a:t>
            </a:r>
            <a:r>
              <a:rPr lang="en-US" dirty="0" smtClean="0"/>
              <a:t>, 2004</a:t>
            </a:r>
            <a:endParaRPr lang="en-US" dirty="0"/>
          </a:p>
        </p:txBody>
      </p:sp>
    </p:spTree>
  </p:cSld>
  <p:clrMapOvr>
    <a:masterClrMapping/>
  </p:clrMapOvr>
  <p:transition>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Picture 4" descr="MORRISON-stools.jpg"/>
          <p:cNvPicPr>
            <a:picLocks noChangeAspect="1"/>
          </p:cNvPicPr>
          <p:nvPr/>
        </p:nvPicPr>
        <p:blipFill>
          <a:blip r:embed="rId2"/>
          <a:stretch>
            <a:fillRect/>
          </a:stretch>
        </p:blipFill>
        <p:spPr>
          <a:xfrm>
            <a:off x="152400" y="304800"/>
            <a:ext cx="8829675" cy="5686425"/>
          </a:xfrm>
          <a:prstGeom prst="rect">
            <a:avLst/>
          </a:prstGeom>
        </p:spPr>
      </p:pic>
      <p:sp>
        <p:nvSpPr>
          <p:cNvPr id="6" name="TextBox 5"/>
          <p:cNvSpPr txBox="1"/>
          <p:nvPr/>
        </p:nvSpPr>
        <p:spPr>
          <a:xfrm>
            <a:off x="3276600" y="1295400"/>
            <a:ext cx="2681824" cy="369332"/>
          </a:xfrm>
          <a:prstGeom prst="rect">
            <a:avLst/>
          </a:prstGeom>
          <a:noFill/>
        </p:spPr>
        <p:txBody>
          <a:bodyPr wrap="none" rtlCol="0">
            <a:spAutoFit/>
          </a:bodyPr>
          <a:lstStyle/>
          <a:p>
            <a:r>
              <a:rPr lang="en-US" dirty="0" smtClean="0"/>
              <a:t>The Transportation System</a:t>
            </a:r>
            <a:endParaRPr lang="en-US" dirty="0"/>
          </a:p>
        </p:txBody>
      </p:sp>
      <p:sp>
        <p:nvSpPr>
          <p:cNvPr id="7" name="TextBox 6"/>
          <p:cNvSpPr txBox="1"/>
          <p:nvPr/>
        </p:nvSpPr>
        <p:spPr>
          <a:xfrm>
            <a:off x="1752600" y="5334000"/>
            <a:ext cx="1984839" cy="646331"/>
          </a:xfrm>
          <a:prstGeom prst="rect">
            <a:avLst/>
          </a:prstGeom>
          <a:noFill/>
        </p:spPr>
        <p:txBody>
          <a:bodyPr wrap="none" rtlCol="0">
            <a:spAutoFit/>
          </a:bodyPr>
          <a:lstStyle/>
          <a:p>
            <a:pPr algn="ctr"/>
            <a:r>
              <a:rPr lang="en-US" dirty="0" smtClean="0"/>
              <a:t>Putting the System</a:t>
            </a:r>
          </a:p>
          <a:p>
            <a:pPr algn="ctr"/>
            <a:r>
              <a:rPr lang="en-US" dirty="0" smtClean="0"/>
              <a:t>In Place</a:t>
            </a:r>
            <a:endParaRPr lang="en-US" dirty="0"/>
          </a:p>
        </p:txBody>
      </p:sp>
      <p:sp>
        <p:nvSpPr>
          <p:cNvPr id="8" name="TextBox 7"/>
          <p:cNvSpPr txBox="1"/>
          <p:nvPr/>
        </p:nvSpPr>
        <p:spPr>
          <a:xfrm>
            <a:off x="3810000" y="4495800"/>
            <a:ext cx="1926874" cy="369332"/>
          </a:xfrm>
          <a:prstGeom prst="rect">
            <a:avLst/>
          </a:prstGeom>
          <a:noFill/>
        </p:spPr>
        <p:txBody>
          <a:bodyPr wrap="none" rtlCol="0">
            <a:spAutoFit/>
          </a:bodyPr>
          <a:lstStyle/>
          <a:p>
            <a:pPr algn="ctr"/>
            <a:r>
              <a:rPr lang="en-US" b="1" dirty="0" smtClean="0">
                <a:solidFill>
                  <a:srgbClr val="C00000"/>
                </a:solidFill>
              </a:rPr>
              <a:t>Issues for Viability</a:t>
            </a:r>
            <a:endParaRPr lang="en-US" b="1" dirty="0">
              <a:solidFill>
                <a:srgbClr val="C00000"/>
              </a:solidFill>
            </a:endParaRPr>
          </a:p>
        </p:txBody>
      </p:sp>
      <p:sp>
        <p:nvSpPr>
          <p:cNvPr id="9" name="TextBox 8"/>
          <p:cNvSpPr txBox="1"/>
          <p:nvPr/>
        </p:nvSpPr>
        <p:spPr>
          <a:xfrm>
            <a:off x="4876800" y="5486400"/>
            <a:ext cx="3055195" cy="369332"/>
          </a:xfrm>
          <a:prstGeom prst="rect">
            <a:avLst/>
          </a:prstGeom>
          <a:noFill/>
        </p:spPr>
        <p:txBody>
          <a:bodyPr wrap="none" rtlCol="0">
            <a:spAutoFit/>
          </a:bodyPr>
          <a:lstStyle/>
          <a:p>
            <a:pPr algn="ctr"/>
            <a:r>
              <a:rPr lang="en-US" dirty="0" smtClean="0"/>
              <a:t>Components of Transportation</a:t>
            </a:r>
            <a:endParaRPr lang="en-US" dirty="0"/>
          </a:p>
        </p:txBody>
      </p:sp>
      <p:sp>
        <p:nvSpPr>
          <p:cNvPr id="11" name="Line Callout 1 (Border and Accent Bar) 10"/>
          <p:cNvSpPr/>
          <p:nvPr/>
        </p:nvSpPr>
        <p:spPr>
          <a:xfrm flipH="1">
            <a:off x="0" y="1981200"/>
            <a:ext cx="2133600" cy="1676400"/>
          </a:xfrm>
          <a:prstGeom prst="accentBorderCallout1">
            <a:avLst>
              <a:gd name="adj1" fmla="val 18750"/>
              <a:gd name="adj2" fmla="val -8333"/>
              <a:gd name="adj3" fmla="val 56885"/>
              <a:gd name="adj4" fmla="val -12677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C00000"/>
                </a:solidFill>
              </a:rPr>
              <a:t>Equity</a:t>
            </a:r>
          </a:p>
          <a:p>
            <a:pPr algn="ctr"/>
            <a:r>
              <a:rPr lang="en-US" b="1" dirty="0" smtClean="0">
                <a:solidFill>
                  <a:srgbClr val="C00000"/>
                </a:solidFill>
              </a:rPr>
              <a:t>Environment</a:t>
            </a:r>
          </a:p>
          <a:p>
            <a:pPr algn="ctr"/>
            <a:r>
              <a:rPr lang="en-US" b="1" dirty="0" smtClean="0">
                <a:solidFill>
                  <a:srgbClr val="C00000"/>
                </a:solidFill>
              </a:rPr>
              <a:t>Economics</a:t>
            </a:r>
          </a:p>
          <a:p>
            <a:pPr algn="ctr"/>
            <a:r>
              <a:rPr lang="en-US" b="1" dirty="0" smtClean="0">
                <a:solidFill>
                  <a:srgbClr val="C00000"/>
                </a:solidFill>
              </a:rPr>
              <a:t>International Trade</a:t>
            </a:r>
          </a:p>
          <a:p>
            <a:pPr algn="ctr"/>
            <a:r>
              <a:rPr lang="en-US" b="1" dirty="0" smtClean="0">
                <a:solidFill>
                  <a:srgbClr val="C00000"/>
                </a:solidFill>
              </a:rPr>
              <a:t>Resource Politics (Oil)</a:t>
            </a:r>
            <a:endParaRPr lang="en-US" b="1" dirty="0">
              <a:solidFill>
                <a:srgbClr val="C00000"/>
              </a:solidFill>
            </a:endParaRPr>
          </a:p>
        </p:txBody>
      </p:sp>
      <p:sp>
        <p:nvSpPr>
          <p:cNvPr id="12" name="Line Callout 1 (Border and Accent Bar) 11"/>
          <p:cNvSpPr/>
          <p:nvPr/>
        </p:nvSpPr>
        <p:spPr>
          <a:xfrm>
            <a:off x="6629400" y="2819400"/>
            <a:ext cx="2514600" cy="1447800"/>
          </a:xfrm>
          <a:prstGeom prst="accentBorderCallout1">
            <a:avLst>
              <a:gd name="adj1" fmla="val 18750"/>
              <a:gd name="adj2" fmla="val -8333"/>
              <a:gd name="adj3" fmla="val 38197"/>
              <a:gd name="adj4" fmla="val -7075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C00000"/>
                </a:solidFill>
              </a:rPr>
              <a:t>Labor</a:t>
            </a:r>
          </a:p>
          <a:p>
            <a:pPr algn="ctr"/>
            <a:r>
              <a:rPr lang="en-US" b="1" dirty="0" smtClean="0">
                <a:solidFill>
                  <a:srgbClr val="C00000"/>
                </a:solidFill>
              </a:rPr>
              <a:t>Industry Structure</a:t>
            </a:r>
          </a:p>
          <a:p>
            <a:pPr algn="ctr"/>
            <a:r>
              <a:rPr lang="en-US" b="1" dirty="0" smtClean="0">
                <a:solidFill>
                  <a:srgbClr val="C00000"/>
                </a:solidFill>
              </a:rPr>
              <a:t>Mobility</a:t>
            </a:r>
          </a:p>
          <a:p>
            <a:pPr algn="ctr"/>
            <a:r>
              <a:rPr lang="en-US" b="1" dirty="0" smtClean="0">
                <a:solidFill>
                  <a:srgbClr val="C00000"/>
                </a:solidFill>
              </a:rPr>
              <a:t>Disabilities</a:t>
            </a:r>
            <a:endParaRPr lang="en-US" b="1" dirty="0">
              <a:solidFill>
                <a:srgbClr val="C00000"/>
              </a:solidFill>
            </a:endParaRPr>
          </a:p>
        </p:txBody>
      </p:sp>
      <p:sp>
        <p:nvSpPr>
          <p:cNvPr id="13" name="TextBox 12"/>
          <p:cNvSpPr txBox="1"/>
          <p:nvPr/>
        </p:nvSpPr>
        <p:spPr>
          <a:xfrm>
            <a:off x="3352800" y="6412468"/>
            <a:ext cx="2498376" cy="369332"/>
          </a:xfrm>
          <a:prstGeom prst="rect">
            <a:avLst/>
          </a:prstGeom>
          <a:noFill/>
        </p:spPr>
        <p:txBody>
          <a:bodyPr wrap="none" rtlCol="0">
            <a:spAutoFit/>
          </a:bodyPr>
          <a:lstStyle/>
          <a:p>
            <a:r>
              <a:rPr lang="en-US" dirty="0" err="1" smtClean="0"/>
              <a:t>Fricker</a:t>
            </a:r>
            <a:r>
              <a:rPr lang="en-US" dirty="0" smtClean="0"/>
              <a:t> &amp; </a:t>
            </a:r>
            <a:r>
              <a:rPr lang="en-US" dirty="0" err="1" smtClean="0"/>
              <a:t>Whitford</a:t>
            </a:r>
            <a:r>
              <a:rPr lang="en-US" dirty="0" smtClean="0"/>
              <a:t>, 2004</a:t>
            </a:r>
            <a:endParaRPr lang="en-US" dirty="0"/>
          </a:p>
        </p:txBody>
      </p:sp>
    </p:spTree>
  </p:cSld>
  <p:clrMapOvr>
    <a:masterClrMapping/>
  </p:clrMapOvr>
  <p:transition>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900" dirty="0" smtClean="0">
                <a:solidFill>
                  <a:schemeClr val="bg1"/>
                </a:solidFill>
              </a:rPr>
              <a:t>Transportation goals consist of:</a:t>
            </a:r>
            <a:endParaRPr lang="en-US" sz="2900" dirty="0">
              <a:solidFill>
                <a:schemeClr val="bg1"/>
              </a:solidFill>
            </a:endParaRPr>
          </a:p>
        </p:txBody>
      </p:sp>
      <p:sp>
        <p:nvSpPr>
          <p:cNvPr id="3" name="Content Placeholder 2"/>
          <p:cNvSpPr>
            <a:spLocks noGrp="1"/>
          </p:cNvSpPr>
          <p:nvPr>
            <p:ph idx="1"/>
          </p:nvPr>
        </p:nvSpPr>
        <p:spPr>
          <a:xfrm>
            <a:off x="457200" y="1981201"/>
            <a:ext cx="8229600" cy="3962400"/>
          </a:xfrm>
        </p:spPr>
        <p:txBody>
          <a:bodyPr>
            <a:normAutofit fontScale="92500"/>
          </a:bodyPr>
          <a:lstStyle/>
          <a:p>
            <a:r>
              <a:rPr lang="en-US" sz="2400" b="1" dirty="0" smtClean="0"/>
              <a:t>Space or Location utility. </a:t>
            </a:r>
            <a:r>
              <a:rPr lang="en-US" sz="2400" dirty="0" smtClean="0"/>
              <a:t>Creating location utility or access.</a:t>
            </a:r>
          </a:p>
          <a:p>
            <a:endParaRPr lang="en-US" sz="2400" b="1" dirty="0" smtClean="0"/>
          </a:p>
          <a:p>
            <a:r>
              <a:rPr lang="en-US" sz="2400" b="1" dirty="0" smtClean="0"/>
              <a:t>Time utility. </a:t>
            </a:r>
            <a:r>
              <a:rPr lang="en-US" sz="2400" dirty="0" smtClean="0"/>
              <a:t>Providing maximum </a:t>
            </a:r>
            <a:r>
              <a:rPr lang="en-US" sz="2400" i="1" dirty="0" smtClean="0"/>
              <a:t>true </a:t>
            </a:r>
            <a:r>
              <a:rPr lang="en-US" sz="2400" dirty="0" smtClean="0"/>
              <a:t>trip speed </a:t>
            </a:r>
            <a:r>
              <a:rPr lang="en-US" sz="2400" dirty="0" smtClean="0">
                <a:sym typeface="Wingdings" pitchFamily="2" charset="2"/>
              </a:rPr>
              <a:t> distance traveled divided by total travel time, including stops, delays and vehicle changes from origin to destination.</a:t>
            </a:r>
          </a:p>
          <a:p>
            <a:pPr>
              <a:buNone/>
            </a:pPr>
            <a:endParaRPr lang="en-US" sz="2400" b="1" dirty="0" smtClean="0"/>
          </a:p>
          <a:p>
            <a:r>
              <a:rPr lang="en-US" sz="2400" b="1" dirty="0" smtClean="0"/>
              <a:t>Cost utility. </a:t>
            </a:r>
            <a:r>
              <a:rPr lang="en-US" sz="2400" dirty="0" smtClean="0"/>
              <a:t>Cost-effective transportation </a:t>
            </a:r>
            <a:r>
              <a:rPr lang="en-US" sz="2400" dirty="0" smtClean="0">
                <a:sym typeface="Wingdings" pitchFamily="2" charset="2"/>
              </a:rPr>
              <a:t> e.g. when the cost of moving goods from one origin to a destination causes goods to be non-competitive at the destination, the goods will not be shipped.</a:t>
            </a:r>
            <a:endParaRPr lang="en-US" sz="2400" b="1" dirty="0" smtClean="0"/>
          </a:p>
          <a:p>
            <a:endParaRPr lang="en-US" sz="2400" b="1" dirty="0"/>
          </a:p>
        </p:txBody>
      </p:sp>
      <p:sp>
        <p:nvSpPr>
          <p:cNvPr id="5" name="TextBox 4"/>
          <p:cNvSpPr txBox="1"/>
          <p:nvPr/>
        </p:nvSpPr>
        <p:spPr>
          <a:xfrm>
            <a:off x="3352800" y="6412468"/>
            <a:ext cx="2498376" cy="369332"/>
          </a:xfrm>
          <a:prstGeom prst="rect">
            <a:avLst/>
          </a:prstGeom>
          <a:noFill/>
        </p:spPr>
        <p:txBody>
          <a:bodyPr wrap="none" rtlCol="0">
            <a:spAutoFit/>
          </a:bodyPr>
          <a:lstStyle/>
          <a:p>
            <a:r>
              <a:rPr lang="en-US" dirty="0" err="1" smtClean="0"/>
              <a:t>Fricker</a:t>
            </a:r>
            <a:r>
              <a:rPr lang="en-US" dirty="0" smtClean="0"/>
              <a:t> &amp; </a:t>
            </a:r>
            <a:r>
              <a:rPr lang="en-US" dirty="0" err="1" smtClean="0"/>
              <a:t>Whitford</a:t>
            </a:r>
            <a:r>
              <a:rPr lang="en-US" dirty="0" smtClean="0"/>
              <a:t>, 2004</a:t>
            </a:r>
            <a:endParaRPr lang="en-US" dirty="0"/>
          </a:p>
        </p:txBody>
      </p:sp>
    </p:spTree>
  </p:cSld>
  <p:clrMapOvr>
    <a:masterClrMapping/>
  </p:clrMapOvr>
  <p:transition>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solidFill>
                  <a:schemeClr val="bg1"/>
                </a:solidFill>
              </a:rPr>
              <a:t>Transportasi</a:t>
            </a:r>
            <a:r>
              <a:rPr lang="en-US" dirty="0" smtClean="0">
                <a:solidFill>
                  <a:schemeClr val="bg1"/>
                </a:solidFill>
              </a:rPr>
              <a:t> </a:t>
            </a:r>
            <a:r>
              <a:rPr lang="en-US" dirty="0" err="1" smtClean="0">
                <a:solidFill>
                  <a:schemeClr val="bg1"/>
                </a:solidFill>
              </a:rPr>
              <a:t>sebagai</a:t>
            </a:r>
            <a:r>
              <a:rPr lang="en-US" dirty="0" smtClean="0">
                <a:solidFill>
                  <a:schemeClr val="bg1"/>
                </a:solidFill>
              </a:rPr>
              <a:t> </a:t>
            </a:r>
            <a:r>
              <a:rPr lang="en-US" dirty="0" err="1" smtClean="0">
                <a:solidFill>
                  <a:schemeClr val="bg1"/>
                </a:solidFill>
              </a:rPr>
              <a:t>Suatu</a:t>
            </a:r>
            <a:r>
              <a:rPr lang="en-US" dirty="0" smtClean="0">
                <a:solidFill>
                  <a:schemeClr val="bg1"/>
                </a:solidFill>
              </a:rPr>
              <a:t> </a:t>
            </a:r>
            <a:r>
              <a:rPr lang="en-US" dirty="0" err="1" smtClean="0">
                <a:solidFill>
                  <a:schemeClr val="bg1"/>
                </a:solidFill>
              </a:rPr>
              <a:t>Sistem</a:t>
            </a:r>
            <a:endParaRPr lang="en-US" dirty="0">
              <a:solidFill>
                <a:schemeClr val="bg1"/>
              </a:solidFill>
            </a:endParaRPr>
          </a:p>
        </p:txBody>
      </p:sp>
      <p:sp>
        <p:nvSpPr>
          <p:cNvPr id="3" name="Content Placeholder 2"/>
          <p:cNvSpPr>
            <a:spLocks noGrp="1"/>
          </p:cNvSpPr>
          <p:nvPr>
            <p:ph idx="1"/>
          </p:nvPr>
        </p:nvSpPr>
        <p:spPr/>
        <p:txBody>
          <a:bodyPr>
            <a:normAutofit fontScale="92500" lnSpcReduction="10000"/>
          </a:bodyPr>
          <a:lstStyle/>
          <a:p>
            <a:r>
              <a:rPr lang="en-US" dirty="0" err="1" smtClean="0"/>
              <a:t>Sistem</a:t>
            </a:r>
            <a:r>
              <a:rPr lang="en-US" dirty="0" smtClean="0"/>
              <a:t> </a:t>
            </a:r>
            <a:r>
              <a:rPr lang="en-US" dirty="0" err="1" smtClean="0"/>
              <a:t>transportasi</a:t>
            </a:r>
            <a:r>
              <a:rPr lang="en-US" dirty="0" smtClean="0"/>
              <a:t> </a:t>
            </a:r>
            <a:r>
              <a:rPr lang="en-US" dirty="0" err="1" smtClean="0"/>
              <a:t>merupakan</a:t>
            </a:r>
            <a:r>
              <a:rPr lang="en-US" dirty="0" smtClean="0"/>
              <a:t> </a:t>
            </a:r>
            <a:r>
              <a:rPr lang="en-US" dirty="0" err="1" smtClean="0"/>
              <a:t>bentuk</a:t>
            </a:r>
            <a:r>
              <a:rPr lang="en-US" dirty="0" smtClean="0"/>
              <a:t> </a:t>
            </a:r>
            <a:r>
              <a:rPr lang="en-US" dirty="0" err="1" smtClean="0"/>
              <a:t>keterkaitan</a:t>
            </a:r>
            <a:r>
              <a:rPr lang="en-US" dirty="0" smtClean="0"/>
              <a:t> </a:t>
            </a:r>
            <a:r>
              <a:rPr lang="en-US" dirty="0" err="1" smtClean="0"/>
              <a:t>antara</a:t>
            </a:r>
            <a:r>
              <a:rPr lang="en-US" dirty="0" smtClean="0"/>
              <a:t> </a:t>
            </a:r>
            <a:r>
              <a:rPr lang="en-US" dirty="0" err="1" smtClean="0"/>
              <a:t>penumpang</a:t>
            </a:r>
            <a:r>
              <a:rPr lang="en-US" dirty="0" smtClean="0"/>
              <a:t>/</a:t>
            </a:r>
            <a:r>
              <a:rPr lang="en-US" dirty="0" err="1" smtClean="0"/>
              <a:t>barang</a:t>
            </a:r>
            <a:r>
              <a:rPr lang="en-US" dirty="0" smtClean="0"/>
              <a:t>, </a:t>
            </a:r>
            <a:r>
              <a:rPr lang="en-US" dirty="0" err="1" smtClean="0"/>
              <a:t>sarana</a:t>
            </a:r>
            <a:r>
              <a:rPr lang="en-US" dirty="0" smtClean="0"/>
              <a:t> </a:t>
            </a:r>
            <a:r>
              <a:rPr lang="en-US" dirty="0" err="1" smtClean="0"/>
              <a:t>dan</a:t>
            </a:r>
            <a:r>
              <a:rPr lang="en-US" dirty="0" smtClean="0"/>
              <a:t> </a:t>
            </a:r>
            <a:r>
              <a:rPr lang="en-US" dirty="0" err="1" smtClean="0"/>
              <a:t>prasarana</a:t>
            </a:r>
            <a:r>
              <a:rPr lang="en-US" dirty="0" smtClean="0"/>
              <a:t> yang </a:t>
            </a:r>
            <a:r>
              <a:rPr lang="en-US" dirty="0" err="1" smtClean="0"/>
              <a:t>saling</a:t>
            </a:r>
            <a:r>
              <a:rPr lang="en-US" dirty="0" smtClean="0"/>
              <a:t> </a:t>
            </a:r>
            <a:r>
              <a:rPr lang="en-US" dirty="0" err="1" smtClean="0"/>
              <a:t>berinteraksi</a:t>
            </a:r>
            <a:r>
              <a:rPr lang="en-US" dirty="0" smtClean="0"/>
              <a:t> </a:t>
            </a:r>
            <a:r>
              <a:rPr lang="en-US" dirty="0" err="1" smtClean="0"/>
              <a:t>dalam</a:t>
            </a:r>
            <a:r>
              <a:rPr lang="en-US" dirty="0" smtClean="0"/>
              <a:t> </a:t>
            </a:r>
            <a:r>
              <a:rPr lang="en-US" dirty="0" err="1" smtClean="0"/>
              <a:t>kegiatan</a:t>
            </a:r>
            <a:r>
              <a:rPr lang="en-US" dirty="0" smtClean="0"/>
              <a:t> </a:t>
            </a:r>
            <a:r>
              <a:rPr lang="en-US" dirty="0" err="1" smtClean="0"/>
              <a:t>perpindahan</a:t>
            </a:r>
            <a:r>
              <a:rPr lang="en-US" dirty="0" smtClean="0"/>
              <a:t> orang </a:t>
            </a:r>
            <a:r>
              <a:rPr lang="en-US" dirty="0" err="1" smtClean="0"/>
              <a:t>dan</a:t>
            </a:r>
            <a:r>
              <a:rPr lang="en-US" dirty="0" smtClean="0"/>
              <a:t> </a:t>
            </a:r>
            <a:r>
              <a:rPr lang="en-US" dirty="0" err="1" smtClean="0"/>
              <a:t>barang</a:t>
            </a:r>
            <a:r>
              <a:rPr lang="en-US" dirty="0" smtClean="0"/>
              <a:t> yang </a:t>
            </a:r>
            <a:r>
              <a:rPr lang="en-US" dirty="0" err="1" smtClean="0"/>
              <a:t>tercakup</a:t>
            </a:r>
            <a:r>
              <a:rPr lang="en-US" dirty="0" smtClean="0"/>
              <a:t> </a:t>
            </a:r>
            <a:r>
              <a:rPr lang="en-US" dirty="0" err="1" smtClean="0"/>
              <a:t>dalam</a:t>
            </a:r>
            <a:r>
              <a:rPr lang="en-US" dirty="0" smtClean="0"/>
              <a:t> </a:t>
            </a:r>
            <a:r>
              <a:rPr lang="en-US" dirty="0" err="1" smtClean="0"/>
              <a:t>satu</a:t>
            </a:r>
            <a:r>
              <a:rPr lang="en-US" dirty="0" smtClean="0"/>
              <a:t> </a:t>
            </a:r>
            <a:r>
              <a:rPr lang="en-US" dirty="0" err="1" smtClean="0"/>
              <a:t>tatanan</a:t>
            </a:r>
            <a:r>
              <a:rPr lang="en-US" dirty="0" smtClean="0"/>
              <a:t>, </a:t>
            </a:r>
            <a:r>
              <a:rPr lang="en-US" dirty="0" err="1" smtClean="0"/>
              <a:t>baik</a:t>
            </a:r>
            <a:r>
              <a:rPr lang="en-US" dirty="0" smtClean="0"/>
              <a:t> </a:t>
            </a:r>
            <a:r>
              <a:rPr lang="en-US" dirty="0" err="1" smtClean="0"/>
              <a:t>alamiah</a:t>
            </a:r>
            <a:r>
              <a:rPr lang="en-US" dirty="0" smtClean="0"/>
              <a:t> </a:t>
            </a:r>
            <a:r>
              <a:rPr lang="en-US" dirty="0" err="1" smtClean="0"/>
              <a:t>maupun</a:t>
            </a:r>
            <a:r>
              <a:rPr lang="en-US" dirty="0" smtClean="0"/>
              <a:t> </a:t>
            </a:r>
            <a:r>
              <a:rPr lang="en-US" dirty="0" err="1" smtClean="0"/>
              <a:t>rekayasa</a:t>
            </a:r>
            <a:r>
              <a:rPr lang="en-US" dirty="0" smtClean="0"/>
              <a:t> </a:t>
            </a:r>
            <a:r>
              <a:rPr lang="en-US" dirty="0" err="1" smtClean="0"/>
              <a:t>manusia</a:t>
            </a:r>
            <a:r>
              <a:rPr lang="en-US" dirty="0" smtClean="0"/>
              <a:t>.</a:t>
            </a:r>
          </a:p>
          <a:p>
            <a:r>
              <a:rPr lang="en-US" dirty="0" err="1" smtClean="0"/>
              <a:t>Maksud</a:t>
            </a:r>
            <a:r>
              <a:rPr lang="en-US" dirty="0" smtClean="0"/>
              <a:t> </a:t>
            </a:r>
            <a:r>
              <a:rPr lang="en-US" dirty="0" err="1" smtClean="0"/>
              <a:t>penyelenggaraan</a:t>
            </a:r>
            <a:r>
              <a:rPr lang="en-US" dirty="0" smtClean="0"/>
              <a:t> </a:t>
            </a:r>
            <a:r>
              <a:rPr lang="en-US" dirty="0" err="1" smtClean="0"/>
              <a:t>sistem</a:t>
            </a:r>
            <a:r>
              <a:rPr lang="en-US" dirty="0" smtClean="0"/>
              <a:t> </a:t>
            </a:r>
            <a:r>
              <a:rPr lang="en-US" dirty="0" err="1" smtClean="0"/>
              <a:t>transportasi</a:t>
            </a:r>
            <a:r>
              <a:rPr lang="en-US" dirty="0" smtClean="0"/>
              <a:t> </a:t>
            </a:r>
            <a:r>
              <a:rPr lang="en-US" dirty="0" err="1" smtClean="0"/>
              <a:t>adalah</a:t>
            </a:r>
            <a:r>
              <a:rPr lang="en-US" dirty="0" smtClean="0"/>
              <a:t> </a:t>
            </a:r>
            <a:r>
              <a:rPr lang="en-US" dirty="0" err="1" smtClean="0"/>
              <a:t>mengkoordinasikan</a:t>
            </a:r>
            <a:r>
              <a:rPr lang="en-US" dirty="0" smtClean="0"/>
              <a:t> </a:t>
            </a:r>
            <a:r>
              <a:rPr lang="en-US" dirty="0" err="1" smtClean="0"/>
              <a:t>pergerakan</a:t>
            </a:r>
            <a:r>
              <a:rPr lang="en-US" dirty="0" smtClean="0"/>
              <a:t> </a:t>
            </a:r>
            <a:r>
              <a:rPr lang="en-US" dirty="0" err="1" smtClean="0"/>
              <a:t>barang</a:t>
            </a:r>
            <a:r>
              <a:rPr lang="en-US" dirty="0" smtClean="0"/>
              <a:t>/</a:t>
            </a:r>
            <a:r>
              <a:rPr lang="en-US" dirty="0" err="1" smtClean="0"/>
              <a:t>penumpang</a:t>
            </a:r>
            <a:r>
              <a:rPr lang="en-US" dirty="0" smtClean="0"/>
              <a:t> </a:t>
            </a:r>
            <a:r>
              <a:rPr lang="en-US" dirty="0" err="1" smtClean="0"/>
              <a:t>dengan</a:t>
            </a:r>
            <a:r>
              <a:rPr lang="en-US" dirty="0" smtClean="0"/>
              <a:t> </a:t>
            </a:r>
            <a:r>
              <a:rPr lang="en-US" dirty="0" err="1" smtClean="0"/>
              <a:t>mengatur</a:t>
            </a:r>
            <a:r>
              <a:rPr lang="en-US" dirty="0" smtClean="0"/>
              <a:t> </a:t>
            </a:r>
            <a:r>
              <a:rPr lang="en-US" dirty="0" err="1" smtClean="0"/>
              <a:t>komponen-komponennya</a:t>
            </a:r>
            <a:r>
              <a:rPr lang="en-US" dirty="0" smtClean="0"/>
              <a:t>.</a:t>
            </a:r>
            <a:endParaRPr lang="en-US" dirty="0"/>
          </a:p>
        </p:txBody>
      </p:sp>
    </p:spTree>
    <p:extLst>
      <p:ext uri="{BB962C8B-B14F-4D97-AF65-F5344CB8AC3E}">
        <p14:creationId xmlns:p14="http://schemas.microsoft.com/office/powerpoint/2010/main" val="1116790128"/>
      </p:ext>
    </p:extLst>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2900" dirty="0" smtClean="0">
                <a:solidFill>
                  <a:schemeClr val="bg1"/>
                </a:solidFill>
              </a:rPr>
              <a:t>Transportation systems analysis is a way to design or modify transportation system to meet the needs of the end user(s). It begins with:</a:t>
            </a:r>
            <a:endParaRPr lang="en-US" sz="2900" dirty="0">
              <a:solidFill>
                <a:schemeClr val="bg1"/>
              </a:solidFill>
            </a:endParaRPr>
          </a:p>
        </p:txBody>
      </p:sp>
      <p:sp>
        <p:nvSpPr>
          <p:cNvPr id="3" name="Content Placeholder 2"/>
          <p:cNvSpPr>
            <a:spLocks noGrp="1"/>
          </p:cNvSpPr>
          <p:nvPr>
            <p:ph idx="1"/>
          </p:nvPr>
        </p:nvSpPr>
        <p:spPr>
          <a:xfrm>
            <a:off x="457200" y="1981201"/>
            <a:ext cx="8229600" cy="3962400"/>
          </a:xfrm>
        </p:spPr>
        <p:txBody>
          <a:bodyPr>
            <a:normAutofit/>
          </a:bodyPr>
          <a:lstStyle/>
          <a:p>
            <a:r>
              <a:rPr lang="en-US" sz="2400" b="1" dirty="0" smtClean="0"/>
              <a:t>System specifications</a:t>
            </a:r>
          </a:p>
          <a:p>
            <a:pPr lvl="1"/>
            <a:r>
              <a:rPr lang="en-US" sz="2000" dirty="0" smtClean="0"/>
              <a:t>What is the </a:t>
            </a:r>
            <a:r>
              <a:rPr lang="en-US" sz="2000" b="1" dirty="0" smtClean="0">
                <a:solidFill>
                  <a:srgbClr val="C00000"/>
                </a:solidFill>
              </a:rPr>
              <a:t>purpose</a:t>
            </a:r>
            <a:r>
              <a:rPr lang="en-US" sz="2000" dirty="0" smtClean="0"/>
              <a:t> of this system?</a:t>
            </a:r>
          </a:p>
          <a:p>
            <a:pPr lvl="1"/>
            <a:r>
              <a:rPr lang="en-US" sz="2000" dirty="0" smtClean="0"/>
              <a:t>What is the </a:t>
            </a:r>
            <a:r>
              <a:rPr lang="en-US" sz="2000" b="1" dirty="0" smtClean="0">
                <a:solidFill>
                  <a:srgbClr val="C00000"/>
                </a:solidFill>
              </a:rPr>
              <a:t>area coverage </a:t>
            </a:r>
            <a:r>
              <a:rPr lang="en-US" sz="2000" dirty="0" smtClean="0"/>
              <a:t>for this system’s operations?</a:t>
            </a:r>
          </a:p>
          <a:p>
            <a:pPr lvl="1"/>
            <a:r>
              <a:rPr lang="en-US" sz="2000" dirty="0" smtClean="0"/>
              <a:t>What are the </a:t>
            </a:r>
            <a:r>
              <a:rPr lang="en-US" sz="2000" b="1" dirty="0" smtClean="0">
                <a:solidFill>
                  <a:srgbClr val="C00000"/>
                </a:solidFill>
              </a:rPr>
              <a:t>technical specifics </a:t>
            </a:r>
            <a:r>
              <a:rPr lang="en-US" sz="2000" dirty="0" smtClean="0"/>
              <a:t>of the system’s intended mission/use?</a:t>
            </a:r>
          </a:p>
          <a:p>
            <a:pPr lvl="1"/>
            <a:r>
              <a:rPr lang="en-US" sz="2000" dirty="0" smtClean="0"/>
              <a:t>What is the </a:t>
            </a:r>
            <a:r>
              <a:rPr lang="en-US" sz="2000" b="1" dirty="0" smtClean="0">
                <a:solidFill>
                  <a:srgbClr val="C00000"/>
                </a:solidFill>
              </a:rPr>
              <a:t>capacity</a:t>
            </a:r>
            <a:r>
              <a:rPr lang="en-US" sz="2000" dirty="0" smtClean="0"/>
              <a:t> of the system?</a:t>
            </a:r>
          </a:p>
          <a:p>
            <a:pPr lvl="1"/>
            <a:r>
              <a:rPr lang="en-US" sz="2000" dirty="0" smtClean="0"/>
              <a:t>What is the availability or </a:t>
            </a:r>
            <a:r>
              <a:rPr lang="en-US" sz="2000" b="1" dirty="0" smtClean="0">
                <a:solidFill>
                  <a:srgbClr val="C00000"/>
                </a:solidFill>
              </a:rPr>
              <a:t>operational readiness </a:t>
            </a:r>
            <a:r>
              <a:rPr lang="en-US" sz="2000" dirty="0" smtClean="0"/>
              <a:t>when the system is called into use?</a:t>
            </a:r>
          </a:p>
          <a:p>
            <a:pPr lvl="1"/>
            <a:r>
              <a:rPr lang="en-US" sz="2000" dirty="0" smtClean="0"/>
              <a:t>What is the </a:t>
            </a:r>
            <a:r>
              <a:rPr lang="en-US" sz="2000" b="1" dirty="0" smtClean="0">
                <a:solidFill>
                  <a:srgbClr val="C00000"/>
                </a:solidFill>
              </a:rPr>
              <a:t>reliability </a:t>
            </a:r>
            <a:r>
              <a:rPr lang="en-US" sz="2000" dirty="0" smtClean="0"/>
              <a:t>of the system in operation?</a:t>
            </a:r>
          </a:p>
          <a:p>
            <a:pPr lvl="1"/>
            <a:r>
              <a:rPr lang="en-US" sz="2000" dirty="0" smtClean="0"/>
              <a:t>What is the </a:t>
            </a:r>
            <a:r>
              <a:rPr lang="en-US" sz="2000" b="1" dirty="0" smtClean="0">
                <a:solidFill>
                  <a:srgbClr val="C00000"/>
                </a:solidFill>
              </a:rPr>
              <a:t>cost-effectiveness </a:t>
            </a:r>
            <a:r>
              <a:rPr lang="en-US" sz="2000" dirty="0" smtClean="0"/>
              <a:t>of the system?</a:t>
            </a:r>
          </a:p>
          <a:p>
            <a:pPr lvl="1"/>
            <a:endParaRPr lang="en-US" sz="2000" dirty="0" smtClean="0"/>
          </a:p>
          <a:p>
            <a:endParaRPr lang="en-US" sz="2400" b="1" dirty="0" smtClean="0"/>
          </a:p>
          <a:p>
            <a:endParaRPr lang="en-US" sz="2400" b="1" dirty="0"/>
          </a:p>
        </p:txBody>
      </p:sp>
      <p:sp>
        <p:nvSpPr>
          <p:cNvPr id="5" name="TextBox 4"/>
          <p:cNvSpPr txBox="1"/>
          <p:nvPr/>
        </p:nvSpPr>
        <p:spPr>
          <a:xfrm>
            <a:off x="3352800" y="6412468"/>
            <a:ext cx="2498376" cy="369332"/>
          </a:xfrm>
          <a:prstGeom prst="rect">
            <a:avLst/>
          </a:prstGeom>
          <a:noFill/>
        </p:spPr>
        <p:txBody>
          <a:bodyPr wrap="none" rtlCol="0">
            <a:spAutoFit/>
          </a:bodyPr>
          <a:lstStyle/>
          <a:p>
            <a:r>
              <a:rPr lang="en-US" dirty="0" err="1" smtClean="0"/>
              <a:t>Fricker</a:t>
            </a:r>
            <a:r>
              <a:rPr lang="en-US" dirty="0" smtClean="0"/>
              <a:t> &amp; </a:t>
            </a:r>
            <a:r>
              <a:rPr lang="en-US" dirty="0" err="1" smtClean="0"/>
              <a:t>Whitford</a:t>
            </a:r>
            <a:r>
              <a:rPr lang="en-US" dirty="0" smtClean="0"/>
              <a:t>, 2004</a:t>
            </a:r>
            <a:endParaRPr lang="en-US" dirty="0"/>
          </a:p>
        </p:txBody>
      </p:sp>
    </p:spTree>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52400"/>
            <a:ext cx="7696200" cy="1143000"/>
          </a:xfrm>
        </p:spPr>
        <p:txBody>
          <a:bodyPr>
            <a:noAutofit/>
          </a:bodyPr>
          <a:lstStyle/>
          <a:p>
            <a:pPr algn="l"/>
            <a:r>
              <a:rPr lang="en-US" sz="2400" dirty="0" smtClean="0">
                <a:solidFill>
                  <a:schemeClr val="bg1"/>
                </a:solidFill>
              </a:rPr>
              <a:t>Then, in performing systems analysis, the analyst must consider the impacts on the user, the operator, and the environment. Herein, </a:t>
            </a:r>
            <a:r>
              <a:rPr lang="en-US" sz="2400" b="1" dirty="0" smtClean="0">
                <a:solidFill>
                  <a:schemeClr val="bg1"/>
                </a:solidFill>
              </a:rPr>
              <a:t>performance measures as a prime tool </a:t>
            </a:r>
            <a:r>
              <a:rPr lang="en-US" sz="2400" dirty="0" smtClean="0">
                <a:solidFill>
                  <a:schemeClr val="bg1"/>
                </a:solidFill>
              </a:rPr>
              <a:t>of system analysis.</a:t>
            </a:r>
            <a:endParaRPr lang="en-US" sz="2400" dirty="0">
              <a:solidFill>
                <a:schemeClr val="bg1"/>
              </a:solidFill>
            </a:endParaRPr>
          </a:p>
        </p:txBody>
      </p:sp>
      <p:sp>
        <p:nvSpPr>
          <p:cNvPr id="5" name="Text Placeholder 4"/>
          <p:cNvSpPr>
            <a:spLocks noGrp="1"/>
          </p:cNvSpPr>
          <p:nvPr>
            <p:ph type="body" idx="1"/>
          </p:nvPr>
        </p:nvSpPr>
        <p:spPr/>
        <p:txBody>
          <a:bodyPr/>
          <a:lstStyle/>
          <a:p>
            <a:r>
              <a:rPr lang="en-US" dirty="0" smtClean="0"/>
              <a:t>OUTPUT PERFORMANCE</a:t>
            </a:r>
            <a:endParaRPr lang="en-US" dirty="0"/>
          </a:p>
        </p:txBody>
      </p:sp>
      <p:sp>
        <p:nvSpPr>
          <p:cNvPr id="3" name="Content Placeholder 2"/>
          <p:cNvSpPr>
            <a:spLocks noGrp="1"/>
          </p:cNvSpPr>
          <p:nvPr>
            <p:ph sz="half" idx="2"/>
          </p:nvPr>
        </p:nvSpPr>
        <p:spPr>
          <a:xfrm>
            <a:off x="457199" y="2174875"/>
            <a:ext cx="4187825" cy="4073526"/>
          </a:xfrm>
        </p:spPr>
        <p:txBody>
          <a:bodyPr>
            <a:normAutofit fontScale="77500" lnSpcReduction="20000"/>
          </a:bodyPr>
          <a:lstStyle/>
          <a:p>
            <a:pPr>
              <a:buClr>
                <a:srgbClr val="FFC000"/>
              </a:buClr>
              <a:buFont typeface="Wingdings" pitchFamily="2" charset="2"/>
              <a:buChar char="§"/>
            </a:pPr>
            <a:r>
              <a:rPr lang="en-US" sz="2400" dirty="0" smtClean="0"/>
              <a:t>Average speed and maximum velocity (km/hour)</a:t>
            </a:r>
          </a:p>
          <a:p>
            <a:pPr>
              <a:buClr>
                <a:srgbClr val="FFC000"/>
              </a:buClr>
              <a:buFont typeface="Wingdings" pitchFamily="2" charset="2"/>
              <a:buChar char="§"/>
            </a:pPr>
            <a:r>
              <a:rPr lang="en-US" sz="2400" dirty="0" smtClean="0"/>
              <a:t>Freight or passenger travel (ton-km or </a:t>
            </a:r>
            <a:r>
              <a:rPr lang="en-US" sz="2400" dirty="0" err="1" smtClean="0"/>
              <a:t>pax</a:t>
            </a:r>
            <a:r>
              <a:rPr lang="en-US" sz="2400" dirty="0" smtClean="0"/>
              <a:t>-km per year)</a:t>
            </a:r>
          </a:p>
          <a:p>
            <a:pPr>
              <a:buClr>
                <a:srgbClr val="FFC000"/>
              </a:buClr>
              <a:buFont typeface="Wingdings" pitchFamily="2" charset="2"/>
              <a:buChar char="§"/>
            </a:pPr>
            <a:r>
              <a:rPr lang="en-US" sz="2400" dirty="0" smtClean="0"/>
              <a:t>Operational use/capacity (</a:t>
            </a:r>
            <a:r>
              <a:rPr lang="en-US" sz="2400" dirty="0" err="1" smtClean="0"/>
              <a:t>pax</a:t>
            </a:r>
            <a:r>
              <a:rPr lang="en-US" sz="2400" dirty="0" smtClean="0"/>
              <a:t>/hour or vehicle-km)</a:t>
            </a:r>
          </a:p>
          <a:p>
            <a:pPr>
              <a:buClr>
                <a:srgbClr val="FFC000"/>
              </a:buClr>
              <a:buFont typeface="Wingdings" pitchFamily="2" charset="2"/>
              <a:buChar char="§"/>
            </a:pPr>
            <a:r>
              <a:rPr lang="en-US" sz="2400" dirty="0" smtClean="0"/>
              <a:t>Density of traffic (</a:t>
            </a:r>
            <a:r>
              <a:rPr lang="en-US" sz="2400" dirty="0" err="1" smtClean="0"/>
              <a:t>pax</a:t>
            </a:r>
            <a:r>
              <a:rPr lang="en-US" sz="2400" dirty="0" smtClean="0"/>
              <a:t> cars/km/lane)</a:t>
            </a:r>
          </a:p>
          <a:p>
            <a:pPr>
              <a:buClr>
                <a:srgbClr val="FFC000"/>
              </a:buClr>
              <a:buFont typeface="Wingdings" pitchFamily="2" charset="2"/>
              <a:buChar char="§"/>
            </a:pPr>
            <a:r>
              <a:rPr lang="en-US" sz="2400" dirty="0" smtClean="0"/>
              <a:t>Range (km)</a:t>
            </a:r>
          </a:p>
          <a:p>
            <a:pPr>
              <a:buClr>
                <a:srgbClr val="FFC000"/>
              </a:buClr>
              <a:buFont typeface="Wingdings" pitchFamily="2" charset="2"/>
              <a:buChar char="§"/>
            </a:pPr>
            <a:r>
              <a:rPr lang="en-US" sz="2400" dirty="0" smtClean="0"/>
              <a:t>Energy use or intensity (British Thermal Unit or BTUs per ton-km or </a:t>
            </a:r>
            <a:r>
              <a:rPr lang="en-US" sz="2400" dirty="0" err="1" smtClean="0"/>
              <a:t>pax</a:t>
            </a:r>
            <a:r>
              <a:rPr lang="en-US" sz="2400" dirty="0" smtClean="0"/>
              <a:t>-km)</a:t>
            </a:r>
          </a:p>
          <a:p>
            <a:pPr>
              <a:buClr>
                <a:srgbClr val="FFC000"/>
              </a:buClr>
              <a:buFont typeface="Wingdings" pitchFamily="2" charset="2"/>
              <a:buChar char="§"/>
            </a:pPr>
            <a:r>
              <a:rPr lang="en-US" sz="2400" dirty="0" smtClean="0"/>
              <a:t>Acceleration and braking (m/s)</a:t>
            </a:r>
          </a:p>
          <a:p>
            <a:pPr>
              <a:buClr>
                <a:srgbClr val="FFC000"/>
              </a:buClr>
              <a:buFont typeface="Wingdings" pitchFamily="2" charset="2"/>
              <a:buChar char="§"/>
            </a:pPr>
            <a:r>
              <a:rPr lang="en-US" sz="2400" dirty="0" smtClean="0"/>
              <a:t>Cost of transportation operation (IDR per ton-km or </a:t>
            </a:r>
            <a:r>
              <a:rPr lang="en-US" sz="2400" dirty="0" err="1" smtClean="0"/>
              <a:t>pax</a:t>
            </a:r>
            <a:r>
              <a:rPr lang="en-US" sz="2400" dirty="0" smtClean="0"/>
              <a:t>-km)</a:t>
            </a:r>
          </a:p>
          <a:p>
            <a:pPr lvl="1"/>
            <a:endParaRPr lang="en-US" sz="2000" dirty="0" smtClean="0"/>
          </a:p>
          <a:p>
            <a:pPr lvl="1"/>
            <a:endParaRPr lang="en-US" sz="2000" dirty="0" smtClean="0"/>
          </a:p>
          <a:p>
            <a:endParaRPr lang="en-US" sz="2400" b="1" dirty="0" smtClean="0"/>
          </a:p>
          <a:p>
            <a:endParaRPr lang="en-US" sz="2400" b="1" dirty="0"/>
          </a:p>
        </p:txBody>
      </p:sp>
      <p:sp>
        <p:nvSpPr>
          <p:cNvPr id="6" name="Text Placeholder 5"/>
          <p:cNvSpPr>
            <a:spLocks noGrp="1"/>
          </p:cNvSpPr>
          <p:nvPr>
            <p:ph type="body" sz="quarter" idx="3"/>
          </p:nvPr>
        </p:nvSpPr>
        <p:spPr/>
        <p:txBody>
          <a:bodyPr/>
          <a:lstStyle/>
          <a:p>
            <a:r>
              <a:rPr lang="en-US" dirty="0" smtClean="0"/>
              <a:t>OUTCOME PERFORMANCE</a:t>
            </a:r>
            <a:endParaRPr lang="en-US" dirty="0"/>
          </a:p>
        </p:txBody>
      </p:sp>
      <p:sp>
        <p:nvSpPr>
          <p:cNvPr id="7" name="Content Placeholder 6"/>
          <p:cNvSpPr>
            <a:spLocks noGrp="1"/>
          </p:cNvSpPr>
          <p:nvPr>
            <p:ph sz="quarter" idx="4"/>
          </p:nvPr>
        </p:nvSpPr>
        <p:spPr/>
        <p:txBody>
          <a:bodyPr>
            <a:normAutofit fontScale="85000" lnSpcReduction="10000"/>
          </a:bodyPr>
          <a:lstStyle/>
          <a:p>
            <a:pPr>
              <a:buClr>
                <a:srgbClr val="FFC000"/>
              </a:buClr>
              <a:buFont typeface="Wingdings" pitchFamily="2" charset="2"/>
              <a:buChar char="§"/>
            </a:pPr>
            <a:r>
              <a:rPr lang="en-US" dirty="0" smtClean="0"/>
              <a:t>Safety (fatalities per year)</a:t>
            </a:r>
          </a:p>
          <a:p>
            <a:pPr>
              <a:buClr>
                <a:srgbClr val="FFC000"/>
              </a:buClr>
              <a:buFont typeface="Wingdings" pitchFamily="2" charset="2"/>
              <a:buChar char="§"/>
            </a:pPr>
            <a:r>
              <a:rPr lang="en-US" dirty="0" smtClean="0"/>
              <a:t>Reliability (failures per unit time)</a:t>
            </a:r>
          </a:p>
          <a:p>
            <a:pPr>
              <a:buClr>
                <a:srgbClr val="FFC000"/>
              </a:buClr>
              <a:buFont typeface="Wingdings" pitchFamily="2" charset="2"/>
              <a:buChar char="§"/>
            </a:pPr>
            <a:r>
              <a:rPr lang="en-US" dirty="0" smtClean="0"/>
              <a:t>Availability or readiness (% probability)</a:t>
            </a:r>
          </a:p>
          <a:p>
            <a:pPr>
              <a:buClr>
                <a:srgbClr val="FFC000"/>
              </a:buClr>
              <a:buFont typeface="Wingdings" pitchFamily="2" charset="2"/>
              <a:buChar char="§"/>
            </a:pPr>
            <a:r>
              <a:rPr lang="en-US" dirty="0" smtClean="0"/>
              <a:t>Weather performance (m of braking distance on wet pavement)</a:t>
            </a:r>
          </a:p>
          <a:p>
            <a:pPr>
              <a:buClr>
                <a:srgbClr val="FFC000"/>
              </a:buClr>
              <a:buFont typeface="Wingdings" pitchFamily="2" charset="2"/>
              <a:buChar char="§"/>
            </a:pPr>
            <a:r>
              <a:rPr lang="en-US" dirty="0" smtClean="0"/>
              <a:t>Chemical emissions (</a:t>
            </a:r>
            <a:r>
              <a:rPr lang="en-US" dirty="0" err="1" smtClean="0"/>
              <a:t>gHC</a:t>
            </a:r>
            <a:r>
              <a:rPr lang="en-US" dirty="0" smtClean="0"/>
              <a:t> per km or per hour)</a:t>
            </a:r>
          </a:p>
          <a:p>
            <a:pPr>
              <a:buClr>
                <a:srgbClr val="FFC000"/>
              </a:buClr>
              <a:buFont typeface="Wingdings" pitchFamily="2" charset="2"/>
              <a:buChar char="§"/>
            </a:pPr>
            <a:r>
              <a:rPr lang="en-US" dirty="0" smtClean="0"/>
              <a:t>Noise emissions (decibels) </a:t>
            </a:r>
          </a:p>
          <a:p>
            <a:pPr>
              <a:buClr>
                <a:srgbClr val="FFC000"/>
              </a:buClr>
              <a:buFont typeface="Wingdings" pitchFamily="2" charset="2"/>
              <a:buChar char="§"/>
            </a:pPr>
            <a:r>
              <a:rPr lang="en-US" dirty="0" smtClean="0"/>
              <a:t>Productivity (ton-km delivered per labor-hour)</a:t>
            </a:r>
          </a:p>
          <a:p>
            <a:endParaRPr lang="en-US" dirty="0"/>
          </a:p>
        </p:txBody>
      </p:sp>
      <p:sp>
        <p:nvSpPr>
          <p:cNvPr id="8" name="TextBox 7"/>
          <p:cNvSpPr txBox="1"/>
          <p:nvPr/>
        </p:nvSpPr>
        <p:spPr>
          <a:xfrm>
            <a:off x="3352800" y="6412468"/>
            <a:ext cx="2498376" cy="369332"/>
          </a:xfrm>
          <a:prstGeom prst="rect">
            <a:avLst/>
          </a:prstGeom>
          <a:noFill/>
        </p:spPr>
        <p:txBody>
          <a:bodyPr wrap="none" rtlCol="0">
            <a:spAutoFit/>
          </a:bodyPr>
          <a:lstStyle/>
          <a:p>
            <a:r>
              <a:rPr lang="en-US" dirty="0" err="1" smtClean="0"/>
              <a:t>Fricker</a:t>
            </a:r>
            <a:r>
              <a:rPr lang="en-US" dirty="0" smtClean="0"/>
              <a:t> &amp; </a:t>
            </a:r>
            <a:r>
              <a:rPr lang="en-US" dirty="0" err="1" smtClean="0"/>
              <a:t>Whitford</a:t>
            </a:r>
            <a:r>
              <a:rPr lang="en-US" dirty="0" smtClean="0"/>
              <a:t>, 2004</a:t>
            </a:r>
            <a:endParaRPr lang="en-US" dirty="0"/>
          </a:p>
        </p:txBody>
      </p:sp>
    </p:spTree>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2800" dirty="0" smtClean="0">
                <a:solidFill>
                  <a:schemeClr val="bg1"/>
                </a:solidFill>
              </a:rPr>
              <a:t>The scope of definition of “transportation system” has </a:t>
            </a:r>
            <a:r>
              <a:rPr lang="en-US" sz="2800" b="1" dirty="0" smtClean="0">
                <a:solidFill>
                  <a:schemeClr val="bg1"/>
                </a:solidFill>
              </a:rPr>
              <a:t>broadened</a:t>
            </a:r>
            <a:r>
              <a:rPr lang="en-US" sz="2800" dirty="0" smtClean="0">
                <a:solidFill>
                  <a:schemeClr val="bg1"/>
                </a:solidFill>
              </a:rPr>
              <a:t> during the past few decades.</a:t>
            </a:r>
            <a:endParaRPr lang="en-US" sz="2800" dirty="0">
              <a:solidFill>
                <a:schemeClr val="bg1"/>
              </a:solidFill>
            </a:endParaRPr>
          </a:p>
        </p:txBody>
      </p:sp>
      <p:sp>
        <p:nvSpPr>
          <p:cNvPr id="3" name="Content Placeholder 2"/>
          <p:cNvSpPr>
            <a:spLocks noGrp="1"/>
          </p:cNvSpPr>
          <p:nvPr>
            <p:ph idx="1"/>
          </p:nvPr>
        </p:nvSpPr>
        <p:spPr/>
        <p:txBody>
          <a:bodyPr>
            <a:normAutofit/>
          </a:bodyPr>
          <a:lstStyle/>
          <a:p>
            <a:r>
              <a:rPr lang="en-US" sz="2400" dirty="0" smtClean="0"/>
              <a:t>D</a:t>
            </a:r>
            <a:r>
              <a:rPr lang="en-US" sz="2400" dirty="0" smtClean="0">
                <a:sym typeface="Wingdings"/>
              </a:rPr>
              <a:t>ue to the increasingly sophisticated analytical capabilities, which can handle more complex set of variables.</a:t>
            </a:r>
          </a:p>
          <a:p>
            <a:endParaRPr lang="en-US" sz="2400" dirty="0" smtClean="0">
              <a:sym typeface="Wingdings"/>
            </a:endParaRPr>
          </a:p>
          <a:p>
            <a:r>
              <a:rPr lang="en-US" sz="2400" dirty="0" smtClean="0">
                <a:sym typeface="Wingdings"/>
              </a:rPr>
              <a:t>The </a:t>
            </a:r>
            <a:r>
              <a:rPr lang="en-US" sz="2400" dirty="0">
                <a:sym typeface="Wingdings"/>
              </a:rPr>
              <a:t>increasing importance of two crucial components of the transportation system: </a:t>
            </a:r>
            <a:r>
              <a:rPr lang="en-US" sz="2400" b="1" dirty="0">
                <a:solidFill>
                  <a:srgbClr val="C00000"/>
                </a:solidFill>
                <a:sym typeface="Wingdings"/>
              </a:rPr>
              <a:t>information and behavior</a:t>
            </a:r>
            <a:r>
              <a:rPr lang="en-US" sz="2400" dirty="0" smtClean="0">
                <a:sym typeface="Wingdings"/>
              </a:rPr>
              <a:t>.</a:t>
            </a:r>
            <a:r>
              <a:rPr lang="en-US" sz="2400" dirty="0">
                <a:sym typeface="Wingdings"/>
              </a:rPr>
              <a:t> </a:t>
            </a:r>
            <a:endParaRPr lang="en-US" sz="2400" dirty="0" smtClean="0">
              <a:sym typeface="Wingdings"/>
            </a:endParaRPr>
          </a:p>
          <a:p>
            <a:endParaRPr lang="en-US" sz="2400" dirty="0" smtClean="0">
              <a:sym typeface="Wingdings"/>
            </a:endParaRPr>
          </a:p>
          <a:p>
            <a:r>
              <a:rPr lang="en-US" sz="2400" dirty="0" smtClean="0">
                <a:sym typeface="Wingdings"/>
              </a:rPr>
              <a:t>The </a:t>
            </a:r>
            <a:r>
              <a:rPr lang="en-US" sz="2400" dirty="0">
                <a:sym typeface="Wingdings"/>
              </a:rPr>
              <a:t>shift toward a more dynamic view of transportation systems, in which the behavior of the components within the transportation system is more extensively treated.</a:t>
            </a:r>
          </a:p>
          <a:p>
            <a:endParaRPr lang="en-US" sz="2400" dirty="0">
              <a:sym typeface="Wingdings"/>
            </a:endParaRPr>
          </a:p>
        </p:txBody>
      </p:sp>
      <p:sp>
        <p:nvSpPr>
          <p:cNvPr id="4" name="TextBox 3"/>
          <p:cNvSpPr txBox="1"/>
          <p:nvPr/>
        </p:nvSpPr>
        <p:spPr>
          <a:xfrm>
            <a:off x="3886200" y="6248400"/>
            <a:ext cx="1514657" cy="369332"/>
          </a:xfrm>
          <a:prstGeom prst="rect">
            <a:avLst/>
          </a:prstGeom>
          <a:noFill/>
        </p:spPr>
        <p:txBody>
          <a:bodyPr wrap="none" rtlCol="0">
            <a:spAutoFit/>
          </a:bodyPr>
          <a:lstStyle/>
          <a:p>
            <a:pPr algn="r"/>
            <a:r>
              <a:rPr lang="en-US" dirty="0" smtClean="0"/>
              <a:t>Dodder, 2000</a:t>
            </a:r>
            <a:endParaRPr lang="en-US" dirty="0"/>
          </a:p>
        </p:txBody>
      </p:sp>
    </p:spTree>
    <p:extLst>
      <p:ext uri="{BB962C8B-B14F-4D97-AF65-F5344CB8AC3E}">
        <p14:creationId xmlns:p14="http://schemas.microsoft.com/office/powerpoint/2010/main" val="2997998714"/>
      </p:ext>
    </p:extLst>
  </p:cSld>
  <p:clrMapOvr>
    <a:masterClrMapping/>
  </p:clrMapOvr>
  <p:transition>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solidFill>
                  <a:schemeClr val="bg1"/>
                </a:solidFill>
              </a:rPr>
              <a:t>INFORMATION &amp; BEHAVIOR</a:t>
            </a:r>
            <a:endParaRPr lang="en-US" sz="4000" dirty="0">
              <a:solidFill>
                <a:schemeClr val="bg1"/>
              </a:solidFill>
            </a:endParaRPr>
          </a:p>
        </p:txBody>
      </p:sp>
      <p:sp>
        <p:nvSpPr>
          <p:cNvPr id="3" name="Content Placeholder 2"/>
          <p:cNvSpPr>
            <a:spLocks noGrp="1"/>
          </p:cNvSpPr>
          <p:nvPr>
            <p:ph idx="1"/>
          </p:nvPr>
        </p:nvSpPr>
        <p:spPr/>
        <p:txBody>
          <a:bodyPr>
            <a:normAutofit/>
          </a:bodyPr>
          <a:lstStyle/>
          <a:p>
            <a:pPr>
              <a:buFont typeface="+mj-lt"/>
              <a:buAutoNum type="arabicPeriod"/>
            </a:pPr>
            <a:r>
              <a:rPr lang="en-US" sz="2400" b="1" dirty="0" smtClean="0"/>
              <a:t>Information</a:t>
            </a:r>
            <a:r>
              <a:rPr lang="en-US" sz="2400" dirty="0" smtClean="0"/>
              <a:t>: the growing number of potential applications of computer and information technology, the role of control, communications and location systems, and the information provided by these systems is increasingly perceived as an integral component of the physical system.</a:t>
            </a:r>
          </a:p>
          <a:p>
            <a:pPr>
              <a:buFont typeface="+mj-lt"/>
              <a:buAutoNum type="arabicPeriod"/>
            </a:pPr>
            <a:r>
              <a:rPr lang="en-US" sz="2400" b="1" dirty="0" smtClean="0"/>
              <a:t>Behavior</a:t>
            </a:r>
            <a:r>
              <a:rPr lang="en-US" sz="2400" dirty="0" smtClean="0"/>
              <a:t>: guided by both the “operating plans”, which specify the regular procedures of operation, as well as by adaptive responses of “operators” (individual drivers, pilots or taxi dispatchers) and managers (in strategic planning, maintenance, or marketing).</a:t>
            </a:r>
            <a:endParaRPr lang="en-US" sz="2400" dirty="0"/>
          </a:p>
        </p:txBody>
      </p:sp>
      <p:sp>
        <p:nvSpPr>
          <p:cNvPr id="4" name="TextBox 3"/>
          <p:cNvSpPr txBox="1"/>
          <p:nvPr/>
        </p:nvSpPr>
        <p:spPr>
          <a:xfrm>
            <a:off x="3814671" y="6354763"/>
            <a:ext cx="1514657" cy="369332"/>
          </a:xfrm>
          <a:prstGeom prst="rect">
            <a:avLst/>
          </a:prstGeom>
          <a:noFill/>
        </p:spPr>
        <p:txBody>
          <a:bodyPr wrap="none" rtlCol="0">
            <a:spAutoFit/>
          </a:bodyPr>
          <a:lstStyle/>
          <a:p>
            <a:pPr algn="r"/>
            <a:r>
              <a:rPr lang="en-US" dirty="0" smtClean="0"/>
              <a:t>Dodder, 2000</a:t>
            </a:r>
            <a:endParaRPr lang="en-US" dirty="0"/>
          </a:p>
        </p:txBody>
      </p:sp>
    </p:spTree>
    <p:extLst>
      <p:ext uri="{BB962C8B-B14F-4D97-AF65-F5344CB8AC3E}">
        <p14:creationId xmlns:p14="http://schemas.microsoft.com/office/powerpoint/2010/main" val="2856130987"/>
      </p:ext>
    </p:extLst>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smtClean="0">
                <a:solidFill>
                  <a:schemeClr val="bg1"/>
                </a:solidFill>
              </a:rPr>
              <a:t>Understanding the changes will influence the approach of </a:t>
            </a:r>
            <a:r>
              <a:rPr lang="en-US" sz="2800" b="1" dirty="0" smtClean="0">
                <a:solidFill>
                  <a:schemeClr val="bg1"/>
                </a:solidFill>
              </a:rPr>
              <a:t>modeling transportation system</a:t>
            </a:r>
            <a:endParaRPr lang="en-US" sz="2800" b="1" dirty="0">
              <a:solidFill>
                <a:schemeClr val="bg1"/>
              </a:solidFill>
            </a:endParaRPr>
          </a:p>
        </p:txBody>
      </p:sp>
      <p:sp>
        <p:nvSpPr>
          <p:cNvPr id="3" name="Content Placeholder 2"/>
          <p:cNvSpPr>
            <a:spLocks noGrp="1"/>
          </p:cNvSpPr>
          <p:nvPr>
            <p:ph idx="1"/>
          </p:nvPr>
        </p:nvSpPr>
        <p:spPr>
          <a:xfrm>
            <a:off x="1676400" y="2133600"/>
            <a:ext cx="6781800" cy="2819400"/>
          </a:xfrm>
        </p:spPr>
        <p:txBody>
          <a:bodyPr>
            <a:normAutofit/>
          </a:bodyPr>
          <a:lstStyle/>
          <a:p>
            <a:r>
              <a:rPr lang="en-US" sz="2400" dirty="0" smtClean="0"/>
              <a:t>The challenge is to choose relevant subsystems and model them appropriately for the intended purpose, mindfully reflecting the </a:t>
            </a:r>
            <a:r>
              <a:rPr lang="en-US" sz="2400" b="1" dirty="0" smtClean="0"/>
              <a:t>boundary effects of the </a:t>
            </a:r>
            <a:r>
              <a:rPr lang="en-US" sz="2400" b="1" dirty="0" err="1" smtClean="0"/>
              <a:t>unmodeled</a:t>
            </a:r>
            <a:r>
              <a:rPr lang="en-US" sz="2400" b="1" dirty="0" smtClean="0"/>
              <a:t> components</a:t>
            </a:r>
            <a:r>
              <a:rPr lang="en-US" sz="2400" dirty="0" smtClean="0"/>
              <a:t>.</a:t>
            </a:r>
            <a:endParaRPr lang="en-US" sz="2400" dirty="0"/>
          </a:p>
        </p:txBody>
      </p:sp>
      <p:sp>
        <p:nvSpPr>
          <p:cNvPr id="4" name="TextBox 3"/>
          <p:cNvSpPr txBox="1"/>
          <p:nvPr/>
        </p:nvSpPr>
        <p:spPr>
          <a:xfrm>
            <a:off x="3657600" y="6248400"/>
            <a:ext cx="1646755" cy="369332"/>
          </a:xfrm>
          <a:prstGeom prst="rect">
            <a:avLst/>
          </a:prstGeom>
          <a:noFill/>
        </p:spPr>
        <p:txBody>
          <a:bodyPr wrap="none" rtlCol="0">
            <a:spAutoFit/>
          </a:bodyPr>
          <a:lstStyle/>
          <a:p>
            <a:pPr algn="r"/>
            <a:r>
              <a:rPr lang="en-US" dirty="0" err="1" smtClean="0"/>
              <a:t>Sussman</a:t>
            </a:r>
            <a:r>
              <a:rPr lang="en-US" dirty="0" smtClean="0"/>
              <a:t>, 200b</a:t>
            </a:r>
            <a:endParaRPr lang="en-US" dirty="0"/>
          </a:p>
        </p:txBody>
      </p:sp>
    </p:spTree>
    <p:extLst>
      <p:ext uri="{BB962C8B-B14F-4D97-AF65-F5344CB8AC3E}">
        <p14:creationId xmlns:p14="http://schemas.microsoft.com/office/powerpoint/2010/main" val="456383682"/>
      </p:ext>
    </p:extLst>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66800" y="1752600"/>
            <a:ext cx="7188200" cy="4305300"/>
          </a:xfrm>
          <a:prstGeom prst="rect">
            <a:avLst/>
          </a:prstGeom>
        </p:spPr>
      </p:pic>
      <p:sp>
        <p:nvSpPr>
          <p:cNvPr id="3" name="TextBox 2"/>
          <p:cNvSpPr txBox="1"/>
          <p:nvPr/>
        </p:nvSpPr>
        <p:spPr>
          <a:xfrm>
            <a:off x="3733800" y="6248400"/>
            <a:ext cx="1514657" cy="369332"/>
          </a:xfrm>
          <a:prstGeom prst="rect">
            <a:avLst/>
          </a:prstGeom>
          <a:noFill/>
        </p:spPr>
        <p:txBody>
          <a:bodyPr wrap="none" rtlCol="0">
            <a:spAutoFit/>
          </a:bodyPr>
          <a:lstStyle/>
          <a:p>
            <a:pPr algn="r"/>
            <a:r>
              <a:rPr lang="en-US" dirty="0" smtClean="0"/>
              <a:t>Dodder, 2000</a:t>
            </a:r>
            <a:endParaRPr lang="en-US" dirty="0"/>
          </a:p>
        </p:txBody>
      </p:sp>
    </p:spTree>
    <p:extLst>
      <p:ext uri="{BB962C8B-B14F-4D97-AF65-F5344CB8AC3E}">
        <p14:creationId xmlns:p14="http://schemas.microsoft.com/office/powerpoint/2010/main" val="1717180283"/>
      </p:ext>
    </p:extLst>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TRANSITIONS (1/4)</a:t>
            </a:r>
            <a:endParaRPr lang="en-US" dirty="0">
              <a:solidFill>
                <a:schemeClr val="bg1"/>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304668647"/>
              </p:ext>
            </p:extLst>
          </p:nvPr>
        </p:nvGraphicFramePr>
        <p:xfrm>
          <a:off x="571500" y="1905000"/>
          <a:ext cx="8001000" cy="3677920"/>
        </p:xfrm>
        <a:graphic>
          <a:graphicData uri="http://schemas.openxmlformats.org/drawingml/2006/table">
            <a:tbl>
              <a:tblPr firstRow="1" bandRow="1">
                <a:tableStyleId>{5C22544A-7EE6-4342-B048-85BDC9FD1C3A}</a:tableStyleId>
              </a:tblPr>
              <a:tblGrid>
                <a:gridCol w="698424">
                  <a:extLst>
                    <a:ext uri="{9D8B030D-6E8A-4147-A177-3AD203B41FA5}">
                      <a16:colId xmlns:a16="http://schemas.microsoft.com/office/drawing/2014/main" xmlns="" val="20000"/>
                    </a:ext>
                  </a:extLst>
                </a:gridCol>
                <a:gridCol w="3503239">
                  <a:extLst>
                    <a:ext uri="{9D8B030D-6E8A-4147-A177-3AD203B41FA5}">
                      <a16:colId xmlns:a16="http://schemas.microsoft.com/office/drawing/2014/main" xmlns="" val="20001"/>
                    </a:ext>
                  </a:extLst>
                </a:gridCol>
                <a:gridCol w="3799337">
                  <a:extLst>
                    <a:ext uri="{9D8B030D-6E8A-4147-A177-3AD203B41FA5}">
                      <a16:colId xmlns:a16="http://schemas.microsoft.com/office/drawing/2014/main" xmlns="" val="20002"/>
                    </a:ext>
                  </a:extLst>
                </a:gridCol>
              </a:tblGrid>
              <a:tr h="370840">
                <a:tc>
                  <a:txBody>
                    <a:bodyPr/>
                    <a:lstStyle/>
                    <a:p>
                      <a:r>
                        <a:rPr lang="en-US" dirty="0" smtClean="0"/>
                        <a:t>No.</a:t>
                      </a:r>
                      <a:endParaRPr lang="en-US" dirty="0"/>
                    </a:p>
                  </a:txBody>
                  <a:tcPr/>
                </a:tc>
                <a:tc>
                  <a:txBody>
                    <a:bodyPr/>
                    <a:lstStyle/>
                    <a:p>
                      <a:r>
                        <a:rPr lang="en-US" dirty="0" smtClean="0"/>
                        <a:t>From</a:t>
                      </a:r>
                      <a:endParaRPr lang="en-US" dirty="0"/>
                    </a:p>
                  </a:txBody>
                  <a:tcPr/>
                </a:tc>
                <a:tc>
                  <a:txBody>
                    <a:bodyPr/>
                    <a:lstStyle/>
                    <a:p>
                      <a:r>
                        <a:rPr lang="en-US" dirty="0" smtClean="0"/>
                        <a:t>To</a:t>
                      </a:r>
                      <a:endParaRPr lang="en-US" dirty="0"/>
                    </a:p>
                  </a:txBody>
                  <a:tcPr/>
                </a:tc>
                <a:extLst>
                  <a:ext uri="{0D108BD9-81ED-4DB2-BD59-A6C34878D82A}">
                    <a16:rowId xmlns:a16="http://schemas.microsoft.com/office/drawing/2014/main" xmlns="" val="10000"/>
                  </a:ext>
                </a:extLst>
              </a:tr>
              <a:tr h="370840">
                <a:tc>
                  <a:txBody>
                    <a:bodyPr/>
                    <a:lstStyle/>
                    <a:p>
                      <a:r>
                        <a:rPr lang="en-US" dirty="0" smtClean="0"/>
                        <a:t>1.</a:t>
                      </a:r>
                      <a:endParaRPr lang="en-US" dirty="0"/>
                    </a:p>
                  </a:txBody>
                  <a:tcPr/>
                </a:tc>
                <a:tc>
                  <a:txBody>
                    <a:bodyPr/>
                    <a:lstStyle/>
                    <a:p>
                      <a:r>
                        <a:rPr lang="en-US" dirty="0" smtClean="0"/>
                        <a:t>Capital Planning</a:t>
                      </a:r>
                      <a:endParaRPr lang="en-US" dirty="0"/>
                    </a:p>
                  </a:txBody>
                  <a:tcPr/>
                </a:tc>
                <a:tc>
                  <a:txBody>
                    <a:bodyPr/>
                    <a:lstStyle/>
                    <a:p>
                      <a:r>
                        <a:rPr lang="en-US" dirty="0" smtClean="0"/>
                        <a:t>Management and Operations Focus</a:t>
                      </a:r>
                      <a:endParaRPr lang="en-US" dirty="0"/>
                    </a:p>
                  </a:txBody>
                  <a:tcPr/>
                </a:tc>
                <a:extLst>
                  <a:ext uri="{0D108BD9-81ED-4DB2-BD59-A6C34878D82A}">
                    <a16:rowId xmlns:a16="http://schemas.microsoft.com/office/drawing/2014/main" xmlns="" val="10001"/>
                  </a:ext>
                </a:extLst>
              </a:tr>
              <a:tr h="370840">
                <a:tc>
                  <a:txBody>
                    <a:bodyPr/>
                    <a:lstStyle/>
                    <a:p>
                      <a:r>
                        <a:rPr lang="en-US" dirty="0" smtClean="0"/>
                        <a:t>2.</a:t>
                      </a:r>
                      <a:endParaRPr lang="en-US" dirty="0"/>
                    </a:p>
                  </a:txBody>
                  <a:tcPr/>
                </a:tc>
                <a:tc>
                  <a:txBody>
                    <a:bodyPr/>
                    <a:lstStyle/>
                    <a:p>
                      <a:r>
                        <a:rPr lang="en-US" dirty="0" smtClean="0"/>
                        <a:t>Long Time Frames</a:t>
                      </a:r>
                      <a:endParaRPr lang="en-US" dirty="0"/>
                    </a:p>
                  </a:txBody>
                  <a:tcPr/>
                </a:tc>
                <a:tc>
                  <a:txBody>
                    <a:bodyPr/>
                    <a:lstStyle/>
                    <a:p>
                      <a:r>
                        <a:rPr lang="en-US" dirty="0" smtClean="0"/>
                        <a:t>Real-time Control </a:t>
                      </a:r>
                      <a:endParaRPr lang="en-US" dirty="0"/>
                    </a:p>
                  </a:txBody>
                  <a:tcPr/>
                </a:tc>
                <a:extLst>
                  <a:ext uri="{0D108BD9-81ED-4DB2-BD59-A6C34878D82A}">
                    <a16:rowId xmlns:a16="http://schemas.microsoft.com/office/drawing/2014/main" xmlns="" val="10002"/>
                  </a:ext>
                </a:extLst>
              </a:tr>
              <a:tr h="370840">
                <a:tc>
                  <a:txBody>
                    <a:bodyPr/>
                    <a:lstStyle/>
                    <a:p>
                      <a:r>
                        <a:rPr lang="en-US" dirty="0" smtClean="0"/>
                        <a:t>3.</a:t>
                      </a:r>
                      <a:endParaRPr lang="en-US" dirty="0"/>
                    </a:p>
                  </a:txBody>
                  <a:tcPr/>
                </a:tc>
                <a:tc>
                  <a:txBody>
                    <a:bodyPr/>
                    <a:lstStyle/>
                    <a:p>
                      <a:r>
                        <a:rPr lang="en-US" dirty="0" smtClean="0"/>
                        <a:t>Urban Scale Planning and Operations</a:t>
                      </a:r>
                      <a:endParaRPr lang="en-US" dirty="0"/>
                    </a:p>
                  </a:txBody>
                  <a:tcPr/>
                </a:tc>
                <a:tc>
                  <a:txBody>
                    <a:bodyPr/>
                    <a:lstStyle/>
                    <a:p>
                      <a:r>
                        <a:rPr lang="en-US" dirty="0" smtClean="0"/>
                        <a:t>Regional Scale Planning and Operations</a:t>
                      </a:r>
                      <a:endParaRPr lang="en-US" dirty="0"/>
                    </a:p>
                  </a:txBody>
                  <a:tcPr/>
                </a:tc>
                <a:extLst>
                  <a:ext uri="{0D108BD9-81ED-4DB2-BD59-A6C34878D82A}">
                    <a16:rowId xmlns:a16="http://schemas.microsoft.com/office/drawing/2014/main" xmlns="" val="10003"/>
                  </a:ext>
                </a:extLst>
              </a:tr>
              <a:tr h="370840">
                <a:tc>
                  <a:txBody>
                    <a:bodyPr/>
                    <a:lstStyle/>
                    <a:p>
                      <a:r>
                        <a:rPr lang="en-US" dirty="0" smtClean="0"/>
                        <a:t>4.</a:t>
                      </a:r>
                      <a:endParaRPr lang="en-US" dirty="0"/>
                    </a:p>
                  </a:txBody>
                  <a:tcPr/>
                </a:tc>
                <a:tc>
                  <a:txBody>
                    <a:bodyPr/>
                    <a:lstStyle/>
                    <a:p>
                      <a:r>
                        <a:rPr lang="en-US" dirty="0" smtClean="0"/>
                        <a:t>Emphasis</a:t>
                      </a:r>
                      <a:r>
                        <a:rPr lang="en-US" baseline="0" dirty="0" smtClean="0"/>
                        <a:t> on Mobility</a:t>
                      </a:r>
                      <a:endParaRPr lang="en-US" dirty="0"/>
                    </a:p>
                  </a:txBody>
                  <a:tcPr/>
                </a:tc>
                <a:tc>
                  <a:txBody>
                    <a:bodyPr/>
                    <a:lstStyle/>
                    <a:p>
                      <a:r>
                        <a:rPr lang="en-US" dirty="0" smtClean="0"/>
                        <a:t>Emphasis on Accessibility (the Transportation/Land Use Connection)</a:t>
                      </a:r>
                      <a:endParaRPr lang="en-US" dirty="0"/>
                    </a:p>
                  </a:txBody>
                  <a:tcPr/>
                </a:tc>
                <a:extLst>
                  <a:ext uri="{0D108BD9-81ED-4DB2-BD59-A6C34878D82A}">
                    <a16:rowId xmlns:a16="http://schemas.microsoft.com/office/drawing/2014/main" xmlns="" val="10004"/>
                  </a:ext>
                </a:extLst>
              </a:tr>
              <a:tr h="370840">
                <a:tc>
                  <a:txBody>
                    <a:bodyPr/>
                    <a:lstStyle/>
                    <a:p>
                      <a:r>
                        <a:rPr lang="en-US" dirty="0" smtClean="0"/>
                        <a:t>5.</a:t>
                      </a:r>
                      <a:endParaRPr lang="en-US" dirty="0"/>
                    </a:p>
                  </a:txBody>
                  <a:tcPr/>
                </a:tc>
                <a:tc>
                  <a:txBody>
                    <a:bodyPr/>
                    <a:lstStyle/>
                    <a:p>
                      <a:r>
                        <a:rPr lang="en-US" dirty="0" smtClean="0"/>
                        <a:t>“One Size Fits All” Service</a:t>
                      </a:r>
                      <a:endParaRPr lang="en-US" dirty="0"/>
                    </a:p>
                  </a:txBody>
                  <a:tcPr/>
                </a:tc>
                <a:tc>
                  <a:txBody>
                    <a:bodyPr/>
                    <a:lstStyle/>
                    <a:p>
                      <a:pPr marL="285750" indent="-285750">
                        <a:buFontTx/>
                        <a:buChar char="-"/>
                      </a:pPr>
                      <a:r>
                        <a:rPr lang="en-US" baseline="0" dirty="0" smtClean="0"/>
                        <a:t>Costumer Orientation</a:t>
                      </a:r>
                    </a:p>
                    <a:p>
                      <a:pPr marL="285750" indent="-285750">
                        <a:buFontTx/>
                        <a:buChar char="-"/>
                      </a:pPr>
                      <a:r>
                        <a:rPr lang="en-US" baseline="0" dirty="0" smtClean="0"/>
                        <a:t>Quality</a:t>
                      </a:r>
                    </a:p>
                    <a:p>
                      <a:pPr marL="285750" indent="-285750">
                        <a:buFontTx/>
                        <a:buChar char="-"/>
                      </a:pPr>
                      <a:r>
                        <a:rPr lang="en-US" baseline="0" dirty="0" smtClean="0"/>
                        <a:t>Pricing for Service</a:t>
                      </a:r>
                      <a:endParaRPr lang="en-US" dirty="0"/>
                    </a:p>
                  </a:txBody>
                  <a:tcPr/>
                </a:tc>
                <a:extLst>
                  <a:ext uri="{0D108BD9-81ED-4DB2-BD59-A6C34878D82A}">
                    <a16:rowId xmlns:a16="http://schemas.microsoft.com/office/drawing/2014/main" xmlns="" val="10005"/>
                  </a:ext>
                </a:extLst>
              </a:tr>
              <a:tr h="370840">
                <a:tc>
                  <a:txBody>
                    <a:bodyPr/>
                    <a:lstStyle/>
                    <a:p>
                      <a:r>
                        <a:rPr lang="en-US" dirty="0" smtClean="0"/>
                        <a:t>6.</a:t>
                      </a:r>
                      <a:endParaRPr lang="en-US" dirty="0"/>
                    </a:p>
                  </a:txBody>
                  <a:tcPr/>
                </a:tc>
                <a:tc>
                  <a:txBody>
                    <a:bodyPr/>
                    <a:lstStyle/>
                    <a:p>
                      <a:r>
                        <a:rPr lang="en-US" dirty="0" smtClean="0"/>
                        <a:t>Allocate Capacity by Queuing</a:t>
                      </a:r>
                      <a:endParaRPr lang="en-US" dirty="0"/>
                    </a:p>
                  </a:txBody>
                  <a:tcPr/>
                </a:tc>
                <a:tc>
                  <a:txBody>
                    <a:bodyPr/>
                    <a:lstStyle/>
                    <a:p>
                      <a:pPr marL="0" indent="0">
                        <a:buFontTx/>
                        <a:buNone/>
                      </a:pPr>
                      <a:r>
                        <a:rPr lang="en-US" dirty="0" smtClean="0"/>
                        <a:t>Allocate</a:t>
                      </a:r>
                      <a:r>
                        <a:rPr lang="en-US" baseline="0" dirty="0" smtClean="0"/>
                        <a:t> Capacity by Pricing</a:t>
                      </a:r>
                      <a:endParaRPr lang="en-US" dirty="0"/>
                    </a:p>
                  </a:txBody>
                  <a:tcPr/>
                </a:tc>
                <a:extLst>
                  <a:ext uri="{0D108BD9-81ED-4DB2-BD59-A6C34878D82A}">
                    <a16:rowId xmlns:a16="http://schemas.microsoft.com/office/drawing/2014/main" xmlns="" val="10006"/>
                  </a:ext>
                </a:extLst>
              </a:tr>
            </a:tbl>
          </a:graphicData>
        </a:graphic>
      </p:graphicFrame>
      <p:sp>
        <p:nvSpPr>
          <p:cNvPr id="8" name="TextBox 7"/>
          <p:cNvSpPr txBox="1"/>
          <p:nvPr/>
        </p:nvSpPr>
        <p:spPr>
          <a:xfrm>
            <a:off x="3748622" y="6324600"/>
            <a:ext cx="1646755" cy="369332"/>
          </a:xfrm>
          <a:prstGeom prst="rect">
            <a:avLst/>
          </a:prstGeom>
          <a:noFill/>
        </p:spPr>
        <p:txBody>
          <a:bodyPr wrap="none" rtlCol="0">
            <a:spAutoFit/>
          </a:bodyPr>
          <a:lstStyle/>
          <a:p>
            <a:pPr algn="r"/>
            <a:r>
              <a:rPr lang="en-US" dirty="0" err="1" smtClean="0"/>
              <a:t>Sussman</a:t>
            </a:r>
            <a:r>
              <a:rPr lang="en-US" dirty="0" smtClean="0"/>
              <a:t>, 2002</a:t>
            </a:r>
            <a:endParaRPr lang="en-US" dirty="0"/>
          </a:p>
        </p:txBody>
      </p:sp>
    </p:spTree>
    <p:extLst>
      <p:ext uri="{BB962C8B-B14F-4D97-AF65-F5344CB8AC3E}">
        <p14:creationId xmlns:p14="http://schemas.microsoft.com/office/powerpoint/2010/main" val="2979104466"/>
      </p:ext>
    </p:extLst>
  </p:cSld>
  <p:clrMapOvr>
    <a:masterClrMapping/>
  </p:clrMapOvr>
  <p:transition>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TRANSITIONS (2/4)</a:t>
            </a:r>
            <a:endParaRPr lang="en-US" dirty="0">
              <a:solidFill>
                <a:schemeClr val="bg1"/>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696447528"/>
              </p:ext>
            </p:extLst>
          </p:nvPr>
        </p:nvGraphicFramePr>
        <p:xfrm>
          <a:off x="571500" y="1905000"/>
          <a:ext cx="8001000" cy="3479800"/>
        </p:xfrm>
        <a:graphic>
          <a:graphicData uri="http://schemas.openxmlformats.org/drawingml/2006/table">
            <a:tbl>
              <a:tblPr firstRow="1" bandRow="1">
                <a:tableStyleId>{5C22544A-7EE6-4342-B048-85BDC9FD1C3A}</a:tableStyleId>
              </a:tblPr>
              <a:tblGrid>
                <a:gridCol w="698424">
                  <a:extLst>
                    <a:ext uri="{9D8B030D-6E8A-4147-A177-3AD203B41FA5}">
                      <a16:colId xmlns:a16="http://schemas.microsoft.com/office/drawing/2014/main" xmlns="" val="20000"/>
                    </a:ext>
                  </a:extLst>
                </a:gridCol>
                <a:gridCol w="3503239">
                  <a:extLst>
                    <a:ext uri="{9D8B030D-6E8A-4147-A177-3AD203B41FA5}">
                      <a16:colId xmlns:a16="http://schemas.microsoft.com/office/drawing/2014/main" xmlns="" val="20001"/>
                    </a:ext>
                  </a:extLst>
                </a:gridCol>
                <a:gridCol w="3799337">
                  <a:extLst>
                    <a:ext uri="{9D8B030D-6E8A-4147-A177-3AD203B41FA5}">
                      <a16:colId xmlns:a16="http://schemas.microsoft.com/office/drawing/2014/main" xmlns="" val="20002"/>
                    </a:ext>
                  </a:extLst>
                </a:gridCol>
              </a:tblGrid>
              <a:tr h="370840">
                <a:tc>
                  <a:txBody>
                    <a:bodyPr/>
                    <a:lstStyle/>
                    <a:p>
                      <a:r>
                        <a:rPr lang="en-US" dirty="0" smtClean="0"/>
                        <a:t>No.</a:t>
                      </a:r>
                      <a:endParaRPr lang="en-US" dirty="0"/>
                    </a:p>
                  </a:txBody>
                  <a:tcPr/>
                </a:tc>
                <a:tc>
                  <a:txBody>
                    <a:bodyPr/>
                    <a:lstStyle/>
                    <a:p>
                      <a:r>
                        <a:rPr lang="en-US" dirty="0" smtClean="0"/>
                        <a:t>From</a:t>
                      </a:r>
                      <a:endParaRPr lang="en-US" dirty="0"/>
                    </a:p>
                  </a:txBody>
                  <a:tcPr/>
                </a:tc>
                <a:tc>
                  <a:txBody>
                    <a:bodyPr/>
                    <a:lstStyle/>
                    <a:p>
                      <a:r>
                        <a:rPr lang="en-US" dirty="0" smtClean="0"/>
                        <a:t>To</a:t>
                      </a:r>
                      <a:endParaRPr lang="en-US" dirty="0"/>
                    </a:p>
                  </a:txBody>
                  <a:tcPr/>
                </a:tc>
                <a:extLst>
                  <a:ext uri="{0D108BD9-81ED-4DB2-BD59-A6C34878D82A}">
                    <a16:rowId xmlns:a16="http://schemas.microsoft.com/office/drawing/2014/main" xmlns="" val="10000"/>
                  </a:ext>
                </a:extLst>
              </a:tr>
              <a:tr h="370840">
                <a:tc>
                  <a:txBody>
                    <a:bodyPr/>
                    <a:lstStyle/>
                    <a:p>
                      <a:r>
                        <a:rPr lang="en-US" dirty="0" smtClean="0"/>
                        <a:t>7.</a:t>
                      </a:r>
                      <a:endParaRPr lang="en-US" dirty="0"/>
                    </a:p>
                  </a:txBody>
                  <a:tcPr/>
                </a:tc>
                <a:tc>
                  <a:txBody>
                    <a:bodyPr/>
                    <a:lstStyle/>
                    <a:p>
                      <a:r>
                        <a:rPr lang="en-US" dirty="0" smtClean="0"/>
                        <a:t>Aggregate Methods for Demand Prediction</a:t>
                      </a:r>
                      <a:endParaRPr lang="en-US" dirty="0"/>
                    </a:p>
                  </a:txBody>
                  <a:tcPr/>
                </a:tc>
                <a:tc>
                  <a:txBody>
                    <a:bodyPr/>
                    <a:lstStyle/>
                    <a:p>
                      <a:r>
                        <a:rPr lang="en-US" dirty="0" smtClean="0"/>
                        <a:t>Disaggregate</a:t>
                      </a:r>
                      <a:r>
                        <a:rPr lang="en-US" baseline="0" dirty="0" smtClean="0"/>
                        <a:t> Methods for Demand Prediction</a:t>
                      </a:r>
                      <a:endParaRPr lang="en-US" dirty="0"/>
                    </a:p>
                  </a:txBody>
                  <a:tcPr/>
                </a:tc>
                <a:extLst>
                  <a:ext uri="{0D108BD9-81ED-4DB2-BD59-A6C34878D82A}">
                    <a16:rowId xmlns:a16="http://schemas.microsoft.com/office/drawing/2014/main" xmlns="" val="10001"/>
                  </a:ext>
                </a:extLst>
              </a:tr>
              <a:tr h="370840">
                <a:tc>
                  <a:txBody>
                    <a:bodyPr/>
                    <a:lstStyle/>
                    <a:p>
                      <a:r>
                        <a:rPr lang="en-US" dirty="0" smtClean="0"/>
                        <a:t>8.</a:t>
                      </a:r>
                      <a:endParaRPr lang="en-US" dirty="0"/>
                    </a:p>
                  </a:txBody>
                  <a:tcPr/>
                </a:tc>
                <a:tc>
                  <a:txBody>
                    <a:bodyPr/>
                    <a:lstStyle/>
                    <a:p>
                      <a:r>
                        <a:rPr lang="en-US" dirty="0" smtClean="0"/>
                        <a:t>Episodic Data for Investment Planning</a:t>
                      </a:r>
                      <a:endParaRPr lang="en-US" dirty="0"/>
                    </a:p>
                  </a:txBody>
                  <a:tcPr/>
                </a:tc>
                <a:tc>
                  <a:txBody>
                    <a:bodyPr/>
                    <a:lstStyle/>
                    <a:p>
                      <a:r>
                        <a:rPr lang="en-US" dirty="0" smtClean="0"/>
                        <a:t>Dynamic Data for Investment Planning (and Operations)</a:t>
                      </a:r>
                      <a:endParaRPr lang="en-US" dirty="0"/>
                    </a:p>
                  </a:txBody>
                  <a:tcPr/>
                </a:tc>
                <a:extLst>
                  <a:ext uri="{0D108BD9-81ED-4DB2-BD59-A6C34878D82A}">
                    <a16:rowId xmlns:a16="http://schemas.microsoft.com/office/drawing/2014/main" xmlns="" val="10002"/>
                  </a:ext>
                </a:extLst>
              </a:tr>
              <a:tr h="370840">
                <a:tc>
                  <a:txBody>
                    <a:bodyPr/>
                    <a:lstStyle/>
                    <a:p>
                      <a:r>
                        <a:rPr lang="en-US" dirty="0" smtClean="0"/>
                        <a:t>9.</a:t>
                      </a:r>
                      <a:endParaRPr lang="en-US" dirty="0"/>
                    </a:p>
                  </a:txBody>
                  <a:tcPr/>
                </a:tc>
                <a:tc>
                  <a:txBody>
                    <a:bodyPr/>
                    <a:lstStyle/>
                    <a:p>
                      <a:r>
                        <a:rPr lang="en-US" dirty="0" smtClean="0"/>
                        <a:t>Public Financing for Infrastructure and Operations</a:t>
                      </a:r>
                      <a:endParaRPr lang="en-US" dirty="0"/>
                    </a:p>
                  </a:txBody>
                  <a:tcPr/>
                </a:tc>
                <a:tc>
                  <a:txBody>
                    <a:bodyPr/>
                    <a:lstStyle/>
                    <a:p>
                      <a:r>
                        <a:rPr lang="en-US" dirty="0" smtClean="0"/>
                        <a:t>Private and Public/Private</a:t>
                      </a:r>
                      <a:r>
                        <a:rPr lang="en-US" baseline="0" dirty="0" smtClean="0"/>
                        <a:t> Partnerships for Financing of Infrastructure and Operations Using Hybrid Return on Investment Measures</a:t>
                      </a:r>
                      <a:endParaRPr lang="en-US" dirty="0"/>
                    </a:p>
                  </a:txBody>
                  <a:tcPr/>
                </a:tc>
                <a:extLst>
                  <a:ext uri="{0D108BD9-81ED-4DB2-BD59-A6C34878D82A}">
                    <a16:rowId xmlns:a16="http://schemas.microsoft.com/office/drawing/2014/main" xmlns="" val="10003"/>
                  </a:ext>
                </a:extLst>
              </a:tr>
              <a:tr h="370840">
                <a:tc>
                  <a:txBody>
                    <a:bodyPr/>
                    <a:lstStyle/>
                    <a:p>
                      <a:r>
                        <a:rPr lang="en-US" dirty="0" smtClean="0"/>
                        <a:t>10.</a:t>
                      </a:r>
                      <a:endParaRPr lang="en-US" dirty="0"/>
                    </a:p>
                  </a:txBody>
                  <a:tcPr/>
                </a:tc>
                <a:tc>
                  <a:txBody>
                    <a:bodyPr/>
                    <a:lstStyle/>
                    <a:p>
                      <a:r>
                        <a:rPr lang="en-US" dirty="0" smtClean="0"/>
                        <a:t>Infrastructure Construction</a:t>
                      </a:r>
                      <a:r>
                        <a:rPr lang="en-US" baseline="0" dirty="0" smtClean="0"/>
                        <a:t> and Maintenance Providers</a:t>
                      </a:r>
                      <a:endParaRPr lang="en-US" dirty="0"/>
                    </a:p>
                  </a:txBody>
                  <a:tcPr/>
                </a:tc>
                <a:tc>
                  <a:txBody>
                    <a:bodyPr/>
                    <a:lstStyle/>
                    <a:p>
                      <a:r>
                        <a:rPr lang="en-US" dirty="0" smtClean="0"/>
                        <a:t>New High Technology Players</a:t>
                      </a:r>
                      <a:endParaRPr lang="en-US" dirty="0"/>
                    </a:p>
                  </a:txBody>
                  <a:tcPr/>
                </a:tc>
                <a:extLst>
                  <a:ext uri="{0D108BD9-81ED-4DB2-BD59-A6C34878D82A}">
                    <a16:rowId xmlns:a16="http://schemas.microsoft.com/office/drawing/2014/main" xmlns="" val="10004"/>
                  </a:ext>
                </a:extLst>
              </a:tr>
            </a:tbl>
          </a:graphicData>
        </a:graphic>
      </p:graphicFrame>
      <p:sp>
        <p:nvSpPr>
          <p:cNvPr id="5" name="TextBox 4"/>
          <p:cNvSpPr txBox="1"/>
          <p:nvPr/>
        </p:nvSpPr>
        <p:spPr>
          <a:xfrm>
            <a:off x="3748622" y="6324600"/>
            <a:ext cx="1646755" cy="369332"/>
          </a:xfrm>
          <a:prstGeom prst="rect">
            <a:avLst/>
          </a:prstGeom>
          <a:noFill/>
        </p:spPr>
        <p:txBody>
          <a:bodyPr wrap="none" rtlCol="0">
            <a:spAutoFit/>
          </a:bodyPr>
          <a:lstStyle/>
          <a:p>
            <a:pPr algn="r"/>
            <a:r>
              <a:rPr lang="en-US" dirty="0" err="1" smtClean="0"/>
              <a:t>Sussman</a:t>
            </a:r>
            <a:r>
              <a:rPr lang="en-US" dirty="0" smtClean="0"/>
              <a:t>, 2002</a:t>
            </a:r>
            <a:endParaRPr lang="en-US" dirty="0"/>
          </a:p>
        </p:txBody>
      </p:sp>
    </p:spTree>
    <p:extLst>
      <p:ext uri="{BB962C8B-B14F-4D97-AF65-F5344CB8AC3E}">
        <p14:creationId xmlns:p14="http://schemas.microsoft.com/office/powerpoint/2010/main" val="2013249447"/>
      </p:ext>
    </p:extLst>
  </p:cSld>
  <p:clrMapOvr>
    <a:masterClrMapping/>
  </p:clrMapOvr>
  <p:transition>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TRANSITIONS (3/4)</a:t>
            </a:r>
            <a:endParaRPr lang="en-US" dirty="0">
              <a:solidFill>
                <a:schemeClr val="bg1"/>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528286703"/>
              </p:ext>
            </p:extLst>
          </p:nvPr>
        </p:nvGraphicFramePr>
        <p:xfrm>
          <a:off x="571500" y="1905000"/>
          <a:ext cx="8001000" cy="3855720"/>
        </p:xfrm>
        <a:graphic>
          <a:graphicData uri="http://schemas.openxmlformats.org/drawingml/2006/table">
            <a:tbl>
              <a:tblPr firstRow="1" bandRow="1">
                <a:tableStyleId>{5C22544A-7EE6-4342-B048-85BDC9FD1C3A}</a:tableStyleId>
              </a:tblPr>
              <a:tblGrid>
                <a:gridCol w="698424">
                  <a:extLst>
                    <a:ext uri="{9D8B030D-6E8A-4147-A177-3AD203B41FA5}">
                      <a16:colId xmlns:a16="http://schemas.microsoft.com/office/drawing/2014/main" xmlns="" val="20000"/>
                    </a:ext>
                  </a:extLst>
                </a:gridCol>
                <a:gridCol w="3503239">
                  <a:extLst>
                    <a:ext uri="{9D8B030D-6E8A-4147-A177-3AD203B41FA5}">
                      <a16:colId xmlns:a16="http://schemas.microsoft.com/office/drawing/2014/main" xmlns="" val="20001"/>
                    </a:ext>
                  </a:extLst>
                </a:gridCol>
                <a:gridCol w="3799337">
                  <a:extLst>
                    <a:ext uri="{9D8B030D-6E8A-4147-A177-3AD203B41FA5}">
                      <a16:colId xmlns:a16="http://schemas.microsoft.com/office/drawing/2014/main" xmlns="" val="20002"/>
                    </a:ext>
                  </a:extLst>
                </a:gridCol>
              </a:tblGrid>
              <a:tr h="370840">
                <a:tc>
                  <a:txBody>
                    <a:bodyPr/>
                    <a:lstStyle/>
                    <a:p>
                      <a:r>
                        <a:rPr lang="en-US" dirty="0" smtClean="0"/>
                        <a:t>No.</a:t>
                      </a:r>
                      <a:endParaRPr lang="en-US" dirty="0"/>
                    </a:p>
                  </a:txBody>
                  <a:tcPr/>
                </a:tc>
                <a:tc>
                  <a:txBody>
                    <a:bodyPr/>
                    <a:lstStyle/>
                    <a:p>
                      <a:r>
                        <a:rPr lang="en-US" dirty="0" smtClean="0"/>
                        <a:t>From</a:t>
                      </a:r>
                      <a:endParaRPr lang="en-US" dirty="0"/>
                    </a:p>
                  </a:txBody>
                  <a:tcPr/>
                </a:tc>
                <a:tc>
                  <a:txBody>
                    <a:bodyPr/>
                    <a:lstStyle/>
                    <a:p>
                      <a:r>
                        <a:rPr lang="en-US" dirty="0" smtClean="0"/>
                        <a:t>To</a:t>
                      </a:r>
                      <a:endParaRPr lang="en-US" dirty="0"/>
                    </a:p>
                  </a:txBody>
                  <a:tcPr/>
                </a:tc>
                <a:extLst>
                  <a:ext uri="{0D108BD9-81ED-4DB2-BD59-A6C34878D82A}">
                    <a16:rowId xmlns:a16="http://schemas.microsoft.com/office/drawing/2014/main" xmlns="" val="10000"/>
                  </a:ext>
                </a:extLst>
              </a:tr>
              <a:tr h="370840">
                <a:tc>
                  <a:txBody>
                    <a:bodyPr/>
                    <a:lstStyle/>
                    <a:p>
                      <a:r>
                        <a:rPr lang="en-US" dirty="0" smtClean="0"/>
                        <a:t>11.</a:t>
                      </a:r>
                      <a:endParaRPr lang="en-US" dirty="0"/>
                    </a:p>
                  </a:txBody>
                  <a:tcPr/>
                </a:tc>
                <a:tc>
                  <a:txBody>
                    <a:bodyPr/>
                    <a:lstStyle/>
                    <a:p>
                      <a:r>
                        <a:rPr lang="en-US" dirty="0" smtClean="0"/>
                        <a:t>Static Organizations and Institutional</a:t>
                      </a:r>
                      <a:endParaRPr lang="en-US" dirty="0"/>
                    </a:p>
                  </a:txBody>
                  <a:tcPr/>
                </a:tc>
                <a:tc>
                  <a:txBody>
                    <a:bodyPr/>
                    <a:lstStyle/>
                    <a:p>
                      <a:pPr marL="0" indent="0">
                        <a:buFontTx/>
                        <a:buNone/>
                      </a:pPr>
                      <a:r>
                        <a:rPr lang="en-US" dirty="0" smtClean="0"/>
                        <a:t>Dynamic</a:t>
                      </a:r>
                      <a:r>
                        <a:rPr lang="en-US" baseline="0" dirty="0" smtClean="0"/>
                        <a:t> Organizations and Institutional Relationships</a:t>
                      </a:r>
                      <a:endParaRPr lang="en-US" dirty="0"/>
                    </a:p>
                  </a:txBody>
                  <a:tcPr/>
                </a:tc>
                <a:extLst>
                  <a:ext uri="{0D108BD9-81ED-4DB2-BD59-A6C34878D82A}">
                    <a16:rowId xmlns:a16="http://schemas.microsoft.com/office/drawing/2014/main" xmlns="" val="10001"/>
                  </a:ext>
                </a:extLst>
              </a:tr>
              <a:tr h="370840">
                <a:tc>
                  <a:txBody>
                    <a:bodyPr/>
                    <a:lstStyle/>
                    <a:p>
                      <a:r>
                        <a:rPr lang="en-US" dirty="0" smtClean="0"/>
                        <a:t>12.</a:t>
                      </a:r>
                      <a:endParaRPr lang="en-US" dirty="0"/>
                    </a:p>
                  </a:txBody>
                  <a:tcPr/>
                </a:tc>
                <a:tc>
                  <a:txBody>
                    <a:bodyPr/>
                    <a:lstStyle/>
                    <a:p>
                      <a:r>
                        <a:rPr lang="en-US" dirty="0" smtClean="0"/>
                        <a:t>Professional Emphasis on Design of Physical Infrastructure</a:t>
                      </a:r>
                      <a:endParaRPr lang="en-US" dirty="0"/>
                    </a:p>
                  </a:txBody>
                  <a:tcPr/>
                </a:tc>
                <a:tc>
                  <a:txBody>
                    <a:bodyPr/>
                    <a:lstStyle/>
                    <a:p>
                      <a:r>
                        <a:rPr lang="en-US" dirty="0" smtClean="0"/>
                        <a:t>Professional Emphasis on Transportation as a Complex, Large-scale, Integrated, Open System (CLIOS)</a:t>
                      </a:r>
                      <a:endParaRPr lang="en-US" dirty="0"/>
                    </a:p>
                  </a:txBody>
                  <a:tcPr/>
                </a:tc>
                <a:extLst>
                  <a:ext uri="{0D108BD9-81ED-4DB2-BD59-A6C34878D82A}">
                    <a16:rowId xmlns:a16="http://schemas.microsoft.com/office/drawing/2014/main" xmlns="" val="10002"/>
                  </a:ext>
                </a:extLst>
              </a:tr>
              <a:tr h="370840">
                <a:tc>
                  <a:txBody>
                    <a:bodyPr/>
                    <a:lstStyle/>
                    <a:p>
                      <a:r>
                        <a:rPr lang="en-US" dirty="0" smtClean="0"/>
                        <a:t>13.</a:t>
                      </a:r>
                      <a:endParaRPr lang="en-US" dirty="0"/>
                    </a:p>
                  </a:txBody>
                  <a:tcPr/>
                </a:tc>
                <a:tc>
                  <a:txBody>
                    <a:bodyPr/>
                    <a:lstStyle/>
                    <a:p>
                      <a:r>
                        <a:rPr lang="en-US" dirty="0" smtClean="0"/>
                        <a:t>Economic Development</a:t>
                      </a:r>
                      <a:endParaRPr lang="en-US" dirty="0"/>
                    </a:p>
                  </a:txBody>
                  <a:tcPr/>
                </a:tc>
                <a:tc>
                  <a:txBody>
                    <a:bodyPr/>
                    <a:lstStyle/>
                    <a:p>
                      <a:r>
                        <a:rPr lang="en-US" dirty="0" smtClean="0"/>
                        <a:t>Sustainable Development</a:t>
                      </a:r>
                      <a:endParaRPr lang="en-US" dirty="0"/>
                    </a:p>
                  </a:txBody>
                  <a:tcPr/>
                </a:tc>
                <a:extLst>
                  <a:ext uri="{0D108BD9-81ED-4DB2-BD59-A6C34878D82A}">
                    <a16:rowId xmlns:a16="http://schemas.microsoft.com/office/drawing/2014/main" xmlns="" val="10003"/>
                  </a:ext>
                </a:extLst>
              </a:tr>
              <a:tr h="370840">
                <a:tc>
                  <a:txBody>
                    <a:bodyPr/>
                    <a:lstStyle/>
                    <a:p>
                      <a:r>
                        <a:rPr lang="en-US" dirty="0" smtClean="0"/>
                        <a:t>14.</a:t>
                      </a:r>
                      <a:endParaRPr lang="en-US" dirty="0"/>
                    </a:p>
                  </a:txBody>
                  <a:tcPr/>
                </a:tc>
                <a:tc>
                  <a:txBody>
                    <a:bodyPr/>
                    <a:lstStyle/>
                    <a:p>
                      <a:r>
                        <a:rPr lang="en-US" dirty="0" smtClean="0"/>
                        <a:t>Computers are “Just a Tool”</a:t>
                      </a:r>
                      <a:endParaRPr lang="en-US" dirty="0"/>
                    </a:p>
                  </a:txBody>
                  <a:tcPr/>
                </a:tc>
                <a:tc>
                  <a:txBody>
                    <a:bodyPr/>
                    <a:lstStyle/>
                    <a:p>
                      <a:r>
                        <a:rPr lang="en-US" dirty="0" smtClean="0"/>
                        <a:t>Ubiquitous Computing</a:t>
                      </a:r>
                      <a:endParaRPr lang="en-US" dirty="0"/>
                    </a:p>
                  </a:txBody>
                  <a:tcPr/>
                </a:tc>
                <a:extLst>
                  <a:ext uri="{0D108BD9-81ED-4DB2-BD59-A6C34878D82A}">
                    <a16:rowId xmlns:a16="http://schemas.microsoft.com/office/drawing/2014/main" xmlns="" val="10004"/>
                  </a:ext>
                </a:extLst>
              </a:tr>
              <a:tr h="370840">
                <a:tc>
                  <a:txBody>
                    <a:bodyPr/>
                    <a:lstStyle/>
                    <a:p>
                      <a:r>
                        <a:rPr lang="en-US" dirty="0" smtClean="0"/>
                        <a:t>15.</a:t>
                      </a:r>
                      <a:endParaRPr lang="en-US" dirty="0"/>
                    </a:p>
                  </a:txBody>
                  <a:tcPr/>
                </a:tc>
                <a:tc>
                  <a:txBody>
                    <a:bodyPr/>
                    <a:lstStyle/>
                    <a:p>
                      <a:r>
                        <a:rPr lang="en-US" dirty="0" smtClean="0"/>
                        <a:t>Supply-side</a:t>
                      </a:r>
                      <a:r>
                        <a:rPr lang="en-US" baseline="0" dirty="0" smtClean="0"/>
                        <a:t> Perspective</a:t>
                      </a:r>
                      <a:endParaRPr lang="en-US" dirty="0"/>
                    </a:p>
                  </a:txBody>
                  <a:tcPr/>
                </a:tc>
                <a:tc>
                  <a:txBody>
                    <a:bodyPr/>
                    <a:lstStyle/>
                    <a:p>
                      <a:pPr marL="285750" indent="-285750">
                        <a:buFontTx/>
                        <a:buChar char="-"/>
                      </a:pPr>
                      <a:r>
                        <a:rPr lang="en-US" dirty="0" smtClean="0"/>
                        <a:t>Supply/Demand</a:t>
                      </a:r>
                      <a:r>
                        <a:rPr lang="en-US" baseline="0" dirty="0" smtClean="0"/>
                        <a:t> Equilibrium Framework</a:t>
                      </a:r>
                    </a:p>
                    <a:p>
                      <a:pPr marL="285750" indent="-285750">
                        <a:buFontTx/>
                        <a:buChar char="-"/>
                      </a:pPr>
                      <a:r>
                        <a:rPr lang="en-US" baseline="0" dirty="0" smtClean="0"/>
                        <a:t>Systems that Never Reach Equilibrium</a:t>
                      </a:r>
                      <a:endParaRPr lang="en-US" dirty="0" smtClean="0"/>
                    </a:p>
                  </a:txBody>
                  <a:tcPr/>
                </a:tc>
                <a:extLst>
                  <a:ext uri="{0D108BD9-81ED-4DB2-BD59-A6C34878D82A}">
                    <a16:rowId xmlns:a16="http://schemas.microsoft.com/office/drawing/2014/main" xmlns="" val="10005"/>
                  </a:ext>
                </a:extLst>
              </a:tr>
            </a:tbl>
          </a:graphicData>
        </a:graphic>
      </p:graphicFrame>
      <p:sp>
        <p:nvSpPr>
          <p:cNvPr id="5" name="TextBox 4"/>
          <p:cNvSpPr txBox="1"/>
          <p:nvPr/>
        </p:nvSpPr>
        <p:spPr>
          <a:xfrm>
            <a:off x="3748622" y="6324600"/>
            <a:ext cx="1646755" cy="369332"/>
          </a:xfrm>
          <a:prstGeom prst="rect">
            <a:avLst/>
          </a:prstGeom>
          <a:noFill/>
        </p:spPr>
        <p:txBody>
          <a:bodyPr wrap="none" rtlCol="0">
            <a:spAutoFit/>
          </a:bodyPr>
          <a:lstStyle/>
          <a:p>
            <a:pPr algn="r"/>
            <a:r>
              <a:rPr lang="en-US" dirty="0" err="1" smtClean="0"/>
              <a:t>Sussman</a:t>
            </a:r>
            <a:r>
              <a:rPr lang="en-US" dirty="0" smtClean="0"/>
              <a:t>, 2002</a:t>
            </a:r>
            <a:endParaRPr lang="en-US" dirty="0"/>
          </a:p>
        </p:txBody>
      </p:sp>
    </p:spTree>
    <p:extLst>
      <p:ext uri="{BB962C8B-B14F-4D97-AF65-F5344CB8AC3E}">
        <p14:creationId xmlns:p14="http://schemas.microsoft.com/office/powerpoint/2010/main" val="3365816935"/>
      </p:ext>
    </p:extLst>
  </p:cSld>
  <p:clrMapOvr>
    <a:masterClrMapping/>
  </p:clrMapOvr>
  <p:transition>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TRANSITIONS (4/4)</a:t>
            </a:r>
            <a:endParaRPr lang="en-US" dirty="0">
              <a:solidFill>
                <a:schemeClr val="bg1"/>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411093471"/>
              </p:ext>
            </p:extLst>
          </p:nvPr>
        </p:nvGraphicFramePr>
        <p:xfrm>
          <a:off x="571500" y="1905000"/>
          <a:ext cx="8001000" cy="3307080"/>
        </p:xfrm>
        <a:graphic>
          <a:graphicData uri="http://schemas.openxmlformats.org/drawingml/2006/table">
            <a:tbl>
              <a:tblPr firstRow="1" bandRow="1">
                <a:tableStyleId>{5C22544A-7EE6-4342-B048-85BDC9FD1C3A}</a:tableStyleId>
              </a:tblPr>
              <a:tblGrid>
                <a:gridCol w="698424">
                  <a:extLst>
                    <a:ext uri="{9D8B030D-6E8A-4147-A177-3AD203B41FA5}">
                      <a16:colId xmlns:a16="http://schemas.microsoft.com/office/drawing/2014/main" xmlns="" val="20000"/>
                    </a:ext>
                  </a:extLst>
                </a:gridCol>
                <a:gridCol w="3503239">
                  <a:extLst>
                    <a:ext uri="{9D8B030D-6E8A-4147-A177-3AD203B41FA5}">
                      <a16:colId xmlns:a16="http://schemas.microsoft.com/office/drawing/2014/main" xmlns="" val="20001"/>
                    </a:ext>
                  </a:extLst>
                </a:gridCol>
                <a:gridCol w="3799337">
                  <a:extLst>
                    <a:ext uri="{9D8B030D-6E8A-4147-A177-3AD203B41FA5}">
                      <a16:colId xmlns:a16="http://schemas.microsoft.com/office/drawing/2014/main" xmlns="" val="20002"/>
                    </a:ext>
                  </a:extLst>
                </a:gridCol>
              </a:tblGrid>
              <a:tr h="370840">
                <a:tc>
                  <a:txBody>
                    <a:bodyPr/>
                    <a:lstStyle/>
                    <a:p>
                      <a:r>
                        <a:rPr lang="en-US" dirty="0" smtClean="0"/>
                        <a:t>No.</a:t>
                      </a:r>
                      <a:endParaRPr lang="en-US" dirty="0"/>
                    </a:p>
                  </a:txBody>
                  <a:tcPr/>
                </a:tc>
                <a:tc>
                  <a:txBody>
                    <a:bodyPr/>
                    <a:lstStyle/>
                    <a:p>
                      <a:r>
                        <a:rPr lang="en-US" dirty="0" smtClean="0"/>
                        <a:t>From</a:t>
                      </a:r>
                      <a:endParaRPr lang="en-US" dirty="0"/>
                    </a:p>
                  </a:txBody>
                  <a:tcPr/>
                </a:tc>
                <a:tc>
                  <a:txBody>
                    <a:bodyPr/>
                    <a:lstStyle/>
                    <a:p>
                      <a:r>
                        <a:rPr lang="en-US" dirty="0" smtClean="0"/>
                        <a:t>To</a:t>
                      </a:r>
                      <a:endParaRPr lang="en-US" dirty="0"/>
                    </a:p>
                  </a:txBody>
                  <a:tcPr/>
                </a:tc>
                <a:extLst>
                  <a:ext uri="{0D108BD9-81ED-4DB2-BD59-A6C34878D82A}">
                    <a16:rowId xmlns:a16="http://schemas.microsoft.com/office/drawing/2014/main" xmlns="" val="10000"/>
                  </a:ext>
                </a:extLst>
              </a:tr>
              <a:tr h="370840">
                <a:tc>
                  <a:txBody>
                    <a:bodyPr/>
                    <a:lstStyle/>
                    <a:p>
                      <a:r>
                        <a:rPr lang="en-US" dirty="0" smtClean="0"/>
                        <a:t>16.</a:t>
                      </a:r>
                      <a:endParaRPr lang="en-US" dirty="0"/>
                    </a:p>
                  </a:txBody>
                  <a:tcPr/>
                </a:tc>
                <a:tc>
                  <a:txBody>
                    <a:bodyPr/>
                    <a:lstStyle/>
                    <a:p>
                      <a:r>
                        <a:rPr lang="en-US" dirty="0" smtClean="0"/>
                        <a:t>Independent Conventional</a:t>
                      </a:r>
                      <a:r>
                        <a:rPr lang="en-US" baseline="0" dirty="0" smtClean="0"/>
                        <a:t> Infrastructure Project</a:t>
                      </a:r>
                      <a:endParaRPr lang="en-US" dirty="0"/>
                    </a:p>
                  </a:txBody>
                  <a:tcPr/>
                </a:tc>
                <a:tc>
                  <a:txBody>
                    <a:bodyPr/>
                    <a:lstStyle/>
                    <a:p>
                      <a:pPr marL="0" indent="0">
                        <a:buFontTx/>
                        <a:buNone/>
                      </a:pPr>
                      <a:r>
                        <a:rPr lang="en-US" dirty="0" smtClean="0"/>
                        <a:t>Linked</a:t>
                      </a:r>
                      <a:r>
                        <a:rPr lang="en-US" baseline="0" dirty="0" smtClean="0"/>
                        <a:t> Advanced Infrastructure Projects Requiring a System Architecture</a:t>
                      </a:r>
                      <a:endParaRPr lang="en-US" dirty="0"/>
                    </a:p>
                  </a:txBody>
                  <a:tcPr/>
                </a:tc>
                <a:extLst>
                  <a:ext uri="{0D108BD9-81ED-4DB2-BD59-A6C34878D82A}">
                    <a16:rowId xmlns:a16="http://schemas.microsoft.com/office/drawing/2014/main" xmlns="" val="10001"/>
                  </a:ext>
                </a:extLst>
              </a:tr>
              <a:tr h="370840">
                <a:tc>
                  <a:txBody>
                    <a:bodyPr/>
                    <a:lstStyle/>
                    <a:p>
                      <a:r>
                        <a:rPr lang="en-US" dirty="0" smtClean="0"/>
                        <a:t>17.</a:t>
                      </a:r>
                      <a:endParaRPr lang="en-US" dirty="0"/>
                    </a:p>
                  </a:txBody>
                  <a:tcPr/>
                </a:tc>
                <a:tc>
                  <a:txBody>
                    <a:bodyPr/>
                    <a:lstStyle/>
                    <a:p>
                      <a:r>
                        <a:rPr lang="en-US" dirty="0" smtClean="0"/>
                        <a:t>Vehicles and Infrastructure as Independent</a:t>
                      </a:r>
                      <a:endParaRPr lang="en-US" dirty="0"/>
                    </a:p>
                  </a:txBody>
                  <a:tcPr/>
                </a:tc>
                <a:tc>
                  <a:txBody>
                    <a:bodyPr/>
                    <a:lstStyle/>
                    <a:p>
                      <a:r>
                        <a:rPr lang="en-US" dirty="0" smtClean="0"/>
                        <a:t>Vehicles</a:t>
                      </a:r>
                      <a:r>
                        <a:rPr lang="en-US" baseline="0" dirty="0" smtClean="0"/>
                        <a:t> and Infrastructure as Electronically Linked</a:t>
                      </a:r>
                      <a:endParaRPr lang="en-US" dirty="0"/>
                    </a:p>
                  </a:txBody>
                  <a:tcPr/>
                </a:tc>
                <a:extLst>
                  <a:ext uri="{0D108BD9-81ED-4DB2-BD59-A6C34878D82A}">
                    <a16:rowId xmlns:a16="http://schemas.microsoft.com/office/drawing/2014/main" xmlns="" val="10002"/>
                  </a:ext>
                </a:extLst>
              </a:tr>
              <a:tr h="370840">
                <a:tc>
                  <a:txBody>
                    <a:bodyPr/>
                    <a:lstStyle/>
                    <a:p>
                      <a:r>
                        <a:rPr lang="en-US" dirty="0" smtClean="0"/>
                        <a:t>18.</a:t>
                      </a:r>
                      <a:endParaRPr lang="en-US" dirty="0"/>
                    </a:p>
                  </a:txBody>
                  <a:tcPr/>
                </a:tc>
                <a:tc>
                  <a:txBody>
                    <a:bodyPr/>
                    <a:lstStyle/>
                    <a:p>
                      <a:r>
                        <a:rPr lang="en-US" dirty="0" smtClean="0"/>
                        <a:t>Reducing</a:t>
                      </a:r>
                      <a:r>
                        <a:rPr lang="en-US" baseline="0" dirty="0" smtClean="0"/>
                        <a:t> Consequences of Crashes</a:t>
                      </a:r>
                      <a:endParaRPr lang="en-US" dirty="0"/>
                    </a:p>
                  </a:txBody>
                  <a:tcPr/>
                </a:tc>
                <a:tc>
                  <a:txBody>
                    <a:bodyPr/>
                    <a:lstStyle/>
                    <a:p>
                      <a:r>
                        <a:rPr lang="en-US" dirty="0" smtClean="0"/>
                        <a:t>Crash Avoidance</a:t>
                      </a:r>
                      <a:endParaRPr lang="en-US" dirty="0"/>
                    </a:p>
                  </a:txBody>
                  <a:tcPr/>
                </a:tc>
                <a:extLst>
                  <a:ext uri="{0D108BD9-81ED-4DB2-BD59-A6C34878D82A}">
                    <a16:rowId xmlns:a16="http://schemas.microsoft.com/office/drawing/2014/main" xmlns="" val="10003"/>
                  </a:ext>
                </a:extLst>
              </a:tr>
              <a:tr h="370840">
                <a:tc>
                  <a:txBody>
                    <a:bodyPr/>
                    <a:lstStyle/>
                    <a:p>
                      <a:r>
                        <a:rPr lang="en-US" dirty="0" smtClean="0"/>
                        <a:t>19.</a:t>
                      </a:r>
                      <a:endParaRPr lang="en-US" dirty="0"/>
                    </a:p>
                  </a:txBody>
                  <a:tcPr/>
                </a:tc>
                <a:tc>
                  <a:txBody>
                    <a:bodyPr/>
                    <a:lstStyle/>
                    <a:p>
                      <a:r>
                        <a:rPr lang="en-US" dirty="0" smtClean="0"/>
                        <a:t>Modal Perspective</a:t>
                      </a:r>
                      <a:endParaRPr lang="en-US" dirty="0"/>
                    </a:p>
                  </a:txBody>
                  <a:tcPr/>
                </a:tc>
                <a:tc>
                  <a:txBody>
                    <a:bodyPr/>
                    <a:lstStyle/>
                    <a:p>
                      <a:pPr marL="285750" indent="-285750">
                        <a:buFontTx/>
                        <a:buChar char="-"/>
                      </a:pPr>
                      <a:r>
                        <a:rPr lang="en-US" dirty="0" smtClean="0"/>
                        <a:t>Intermodal</a:t>
                      </a:r>
                      <a:r>
                        <a:rPr lang="en-US" baseline="0" dirty="0" smtClean="0"/>
                        <a:t> Perspective</a:t>
                      </a:r>
                    </a:p>
                    <a:p>
                      <a:pPr marL="285750" indent="-285750">
                        <a:buFontTx/>
                        <a:buChar char="-"/>
                      </a:pPr>
                      <a:r>
                        <a:rPr lang="en-US" baseline="0" dirty="0" smtClean="0"/>
                        <a:t>Supply Chain Management</a:t>
                      </a:r>
                      <a:endParaRPr lang="en-US" dirty="0"/>
                    </a:p>
                  </a:txBody>
                  <a:tcPr/>
                </a:tc>
                <a:extLst>
                  <a:ext uri="{0D108BD9-81ED-4DB2-BD59-A6C34878D82A}">
                    <a16:rowId xmlns:a16="http://schemas.microsoft.com/office/drawing/2014/main" xmlns="" val="10004"/>
                  </a:ext>
                </a:extLst>
              </a:tr>
              <a:tr h="370840">
                <a:tc>
                  <a:txBody>
                    <a:bodyPr/>
                    <a:lstStyle/>
                    <a:p>
                      <a:r>
                        <a:rPr lang="en-US" dirty="0" smtClean="0"/>
                        <a:t>20.</a:t>
                      </a:r>
                      <a:endParaRPr lang="en-US" dirty="0"/>
                    </a:p>
                  </a:txBody>
                  <a:tcPr/>
                </a:tc>
                <a:tc>
                  <a:txBody>
                    <a:bodyPr/>
                    <a:lstStyle/>
                    <a:p>
                      <a:r>
                        <a:rPr lang="en-US" dirty="0" smtClean="0"/>
                        <a:t>Narrow</a:t>
                      </a:r>
                      <a:r>
                        <a:rPr lang="en-US" baseline="0" dirty="0" smtClean="0"/>
                        <a:t> Transportation Specialists</a:t>
                      </a:r>
                      <a:endParaRPr lang="en-US" dirty="0"/>
                    </a:p>
                  </a:txBody>
                  <a:tcPr/>
                </a:tc>
                <a:tc>
                  <a:txBody>
                    <a:bodyPr/>
                    <a:lstStyle/>
                    <a:p>
                      <a:r>
                        <a:rPr lang="en-US" dirty="0" smtClean="0"/>
                        <a:t>The New Transportation Professional</a:t>
                      </a:r>
                      <a:endParaRPr lang="en-US" dirty="0"/>
                    </a:p>
                  </a:txBody>
                  <a:tcPr/>
                </a:tc>
                <a:extLst>
                  <a:ext uri="{0D108BD9-81ED-4DB2-BD59-A6C34878D82A}">
                    <a16:rowId xmlns:a16="http://schemas.microsoft.com/office/drawing/2014/main" xmlns="" val="10005"/>
                  </a:ext>
                </a:extLst>
              </a:tr>
            </a:tbl>
          </a:graphicData>
        </a:graphic>
      </p:graphicFrame>
      <p:sp>
        <p:nvSpPr>
          <p:cNvPr id="5" name="TextBox 4"/>
          <p:cNvSpPr txBox="1"/>
          <p:nvPr/>
        </p:nvSpPr>
        <p:spPr>
          <a:xfrm>
            <a:off x="3748622" y="6324600"/>
            <a:ext cx="1646755" cy="369332"/>
          </a:xfrm>
          <a:prstGeom prst="rect">
            <a:avLst/>
          </a:prstGeom>
          <a:noFill/>
        </p:spPr>
        <p:txBody>
          <a:bodyPr wrap="none" rtlCol="0">
            <a:spAutoFit/>
          </a:bodyPr>
          <a:lstStyle/>
          <a:p>
            <a:pPr algn="r"/>
            <a:r>
              <a:rPr lang="en-US" dirty="0" err="1" smtClean="0"/>
              <a:t>Sussman</a:t>
            </a:r>
            <a:r>
              <a:rPr lang="en-US" dirty="0" smtClean="0"/>
              <a:t>, 2002</a:t>
            </a:r>
            <a:endParaRPr lang="en-US" dirty="0"/>
          </a:p>
        </p:txBody>
      </p:sp>
    </p:spTree>
    <p:extLst>
      <p:ext uri="{BB962C8B-B14F-4D97-AF65-F5344CB8AC3E}">
        <p14:creationId xmlns:p14="http://schemas.microsoft.com/office/powerpoint/2010/main" val="2986797052"/>
      </p:ext>
    </p:extLst>
  </p:cSld>
  <p:clrMapOvr>
    <a:masterClrMapping/>
  </p:clrMapOvr>
  <p:transition>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REFERENCES</a:t>
            </a:r>
            <a:endParaRPr lang="en-US" dirty="0">
              <a:solidFill>
                <a:schemeClr val="bg1"/>
              </a:solidFill>
            </a:endParaRPr>
          </a:p>
        </p:txBody>
      </p:sp>
      <p:sp>
        <p:nvSpPr>
          <p:cNvPr id="3" name="Content Placeholder 2"/>
          <p:cNvSpPr>
            <a:spLocks noGrp="1"/>
          </p:cNvSpPr>
          <p:nvPr>
            <p:ph idx="1"/>
          </p:nvPr>
        </p:nvSpPr>
        <p:spPr>
          <a:xfrm>
            <a:off x="457200" y="1828800"/>
            <a:ext cx="8229600" cy="4525963"/>
          </a:xfrm>
        </p:spPr>
        <p:txBody>
          <a:bodyPr>
            <a:normAutofit fontScale="77500" lnSpcReduction="20000"/>
          </a:bodyPr>
          <a:lstStyle/>
          <a:p>
            <a:r>
              <a:rPr lang="en-US" sz="2900" dirty="0" smtClean="0"/>
              <a:t>Manheim, M.L. (1979) Fundamentals of Transportation Analysis, Volume 1: Basic Concepts, the MIT Press.</a:t>
            </a:r>
          </a:p>
          <a:p>
            <a:r>
              <a:rPr lang="en-US" sz="2900" dirty="0" err="1" smtClean="0"/>
              <a:t>Fricker</a:t>
            </a:r>
            <a:r>
              <a:rPr lang="en-US" sz="2900" dirty="0" smtClean="0"/>
              <a:t>, J.D. and R.K. </a:t>
            </a:r>
            <a:r>
              <a:rPr lang="en-US" sz="2900" dirty="0" err="1" smtClean="0"/>
              <a:t>Whitford</a:t>
            </a:r>
            <a:r>
              <a:rPr lang="en-US" sz="2900" dirty="0" smtClean="0"/>
              <a:t> (2004) Fundamentals of Transportation Engineering: A Multimodal System Approach, Pearson-Prentice Hall, New Jersey, USA.</a:t>
            </a:r>
          </a:p>
          <a:p>
            <a:r>
              <a:rPr lang="en-US" sz="2900" dirty="0" smtClean="0"/>
              <a:t>Dodder, R. (2000) The Evolving Systems View of Transportation: Implications for Policy, Research Seminar in Engineering Systems, MIT.</a:t>
            </a:r>
          </a:p>
          <a:p>
            <a:r>
              <a:rPr lang="en-US" sz="2900" dirty="0" err="1" smtClean="0"/>
              <a:t>Sussman</a:t>
            </a:r>
            <a:r>
              <a:rPr lang="en-US" sz="2900" dirty="0" smtClean="0"/>
              <a:t>, J.M. (2002)  Transitions in the World of Transportation: A Systems View, </a:t>
            </a:r>
            <a:r>
              <a:rPr lang="en-US" sz="2900" i="1" dirty="0" smtClean="0"/>
              <a:t>Transportation Quarterly, </a:t>
            </a:r>
            <a:r>
              <a:rPr lang="en-US" sz="2900" dirty="0" smtClean="0"/>
              <a:t>Vol. 56, No. 1, Winter 2002, </a:t>
            </a:r>
            <a:r>
              <a:rPr lang="en-US" sz="2900" dirty="0" err="1" smtClean="0"/>
              <a:t>Eno</a:t>
            </a:r>
            <a:r>
              <a:rPr lang="en-US" sz="2900" dirty="0" smtClean="0"/>
              <a:t> Transportation Foundation, Washington D.C..</a:t>
            </a:r>
          </a:p>
          <a:p>
            <a:r>
              <a:rPr lang="en-US" sz="2900" dirty="0" err="1" smtClean="0"/>
              <a:t>Cascetta</a:t>
            </a:r>
            <a:r>
              <a:rPr lang="en-US" sz="2900" dirty="0" smtClean="0"/>
              <a:t>, E. (2009) Transportation System Analysis, Springer Optimization and Its Application 29, Springer.</a:t>
            </a:r>
          </a:p>
          <a:p>
            <a:endParaRPr lang="en-US" dirty="0"/>
          </a:p>
        </p:txBody>
      </p:sp>
    </p:spTree>
    <p:extLst>
      <p:ext uri="{BB962C8B-B14F-4D97-AF65-F5344CB8AC3E}">
        <p14:creationId xmlns:p14="http://schemas.microsoft.com/office/powerpoint/2010/main" val="344319344"/>
      </p:ext>
    </p:extLst>
  </p:cSld>
  <p:clrMapOvr>
    <a:masterClrMapping/>
  </p:clrMapOvr>
  <p:transition>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bg1"/>
                </a:solidFill>
              </a:rPr>
              <a:t>Transportation System Ecology</a:t>
            </a:r>
            <a:endParaRPr lang="en-US" dirty="0">
              <a:solidFill>
                <a:schemeClr val="bg1"/>
              </a:solidFill>
            </a:endParaRPr>
          </a:p>
        </p:txBody>
      </p:sp>
      <p:sp>
        <p:nvSpPr>
          <p:cNvPr id="4" name="Slide Number Placeholder 3"/>
          <p:cNvSpPr>
            <a:spLocks noGrp="1"/>
          </p:cNvSpPr>
          <p:nvPr>
            <p:ph type="sldNum" sz="quarter" idx="12"/>
          </p:nvPr>
        </p:nvSpPr>
        <p:spPr/>
        <p:txBody>
          <a:bodyPr/>
          <a:lstStyle/>
          <a:p>
            <a:fld id="{EF0C9E3C-19E5-4993-BF69-36C7277FC386}" type="slidenum">
              <a:rPr lang="en-US" smtClean="0"/>
              <a:pPr/>
              <a:t>34</a:t>
            </a:fld>
            <a:endParaRPr lang="en-US" dirty="0"/>
          </a:p>
        </p:txBody>
      </p:sp>
      <p:pic>
        <p:nvPicPr>
          <p:cNvPr id="1026" name="Picture 2">
            <a:hlinkClick r:id="rId2" action="ppaction://hlinkfile"/>
          </p:cNvPr>
          <p:cNvPicPr>
            <a:picLocks noChangeAspect="1" noChangeArrowheads="1"/>
          </p:cNvPicPr>
          <p:nvPr/>
        </p:nvPicPr>
        <p:blipFill>
          <a:blip r:embed="rId3"/>
          <a:srcRect/>
          <a:stretch>
            <a:fillRect/>
          </a:stretch>
        </p:blipFill>
        <p:spPr bwMode="auto">
          <a:xfrm>
            <a:off x="1219200" y="1828800"/>
            <a:ext cx="6762750" cy="3802190"/>
          </a:xfrm>
          <a:prstGeom prst="rect">
            <a:avLst/>
          </a:prstGeom>
          <a:noFill/>
          <a:ln w="9525">
            <a:noFill/>
            <a:miter lim="800000"/>
            <a:headEnd/>
            <a:tailEnd/>
          </a:ln>
          <a:effectLst/>
        </p:spPr>
      </p:pic>
    </p:spTree>
  </p:cSld>
  <p:clrMapOvr>
    <a:masterClrMapping/>
  </p:clrMapOvr>
  <p:transition>
    <p:rand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chemeClr val="bg1"/>
                </a:solidFill>
              </a:rPr>
              <a:t>Quotes – D.E. </a:t>
            </a:r>
            <a:r>
              <a:rPr lang="en-US" dirty="0" err="1" smtClean="0">
                <a:solidFill>
                  <a:schemeClr val="bg1"/>
                </a:solidFill>
              </a:rPr>
              <a:t>Azaria</a:t>
            </a:r>
            <a:r>
              <a:rPr lang="en-US" dirty="0" smtClean="0">
                <a:solidFill>
                  <a:schemeClr val="bg1"/>
                </a:solidFill>
              </a:rPr>
              <a:t>, RSENR</a:t>
            </a:r>
            <a:endParaRPr lang="en-US" dirty="0">
              <a:solidFill>
                <a:schemeClr val="bg1"/>
              </a:solidFill>
            </a:endParaRPr>
          </a:p>
        </p:txBody>
      </p:sp>
      <p:sp>
        <p:nvSpPr>
          <p:cNvPr id="5" name="Content Placeholder 4"/>
          <p:cNvSpPr>
            <a:spLocks noGrp="1"/>
          </p:cNvSpPr>
          <p:nvPr>
            <p:ph idx="1"/>
          </p:nvPr>
        </p:nvSpPr>
        <p:spPr>
          <a:xfrm>
            <a:off x="533400" y="1828801"/>
            <a:ext cx="8229600" cy="4190999"/>
          </a:xfrm>
        </p:spPr>
        <p:txBody>
          <a:bodyPr>
            <a:normAutofit lnSpcReduction="10000"/>
          </a:bodyPr>
          <a:lstStyle/>
          <a:p>
            <a:r>
              <a:rPr lang="en-US" dirty="0" smtClean="0"/>
              <a:t>I hope that the model helps us to think better but I really try to keep in mind that we can </a:t>
            </a:r>
            <a:r>
              <a:rPr lang="en-US" b="1" dirty="0" smtClean="0"/>
              <a:t>mistake the model for wisdom </a:t>
            </a:r>
            <a:r>
              <a:rPr lang="en-US" dirty="0" smtClean="0"/>
              <a:t>and it’s not wisdom, it’s just a model.</a:t>
            </a:r>
          </a:p>
          <a:p>
            <a:r>
              <a:rPr lang="en-US" dirty="0" smtClean="0"/>
              <a:t>What we need is people with wisdom in a broad view to see the whole system and what we have most of the time is people who look at the </a:t>
            </a:r>
            <a:r>
              <a:rPr lang="en-US" b="1" dirty="0" smtClean="0"/>
              <a:t>smaller subset of that system.</a:t>
            </a:r>
            <a:endParaRPr lang="en-US" b="1" dirty="0"/>
          </a:p>
        </p:txBody>
      </p:sp>
      <p:sp>
        <p:nvSpPr>
          <p:cNvPr id="4" name="Slide Number Placeholder 3"/>
          <p:cNvSpPr>
            <a:spLocks noGrp="1"/>
          </p:cNvSpPr>
          <p:nvPr>
            <p:ph type="sldNum" sz="quarter" idx="12"/>
          </p:nvPr>
        </p:nvSpPr>
        <p:spPr/>
        <p:txBody>
          <a:bodyPr/>
          <a:lstStyle/>
          <a:p>
            <a:fld id="{EF0C9E3C-19E5-4993-BF69-36C7277FC386}" type="slidenum">
              <a:rPr lang="en-US" smtClean="0"/>
              <a:pPr/>
              <a:t>35</a:t>
            </a:fld>
            <a:endParaRPr lang="en-US" dirty="0"/>
          </a:p>
        </p:txBody>
      </p:sp>
    </p:spTree>
  </p:cSld>
  <p:clrMapOvr>
    <a:masterClrMapping/>
  </p:clrMapOvr>
  <p:transition>
    <p:rand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bg1"/>
                </a:solidFill>
              </a:rPr>
              <a:t>American Transportation Vision</a:t>
            </a:r>
            <a:endParaRPr lang="en-US" dirty="0">
              <a:solidFill>
                <a:schemeClr val="bg1"/>
              </a:solidFill>
            </a:endParaRPr>
          </a:p>
        </p:txBody>
      </p:sp>
      <p:sp>
        <p:nvSpPr>
          <p:cNvPr id="4" name="Slide Number Placeholder 3"/>
          <p:cNvSpPr>
            <a:spLocks noGrp="1"/>
          </p:cNvSpPr>
          <p:nvPr>
            <p:ph type="sldNum" sz="quarter" idx="12"/>
          </p:nvPr>
        </p:nvSpPr>
        <p:spPr/>
        <p:txBody>
          <a:bodyPr/>
          <a:lstStyle/>
          <a:p>
            <a:fld id="{EF0C9E3C-19E5-4993-BF69-36C7277FC386}" type="slidenum">
              <a:rPr lang="en-US" smtClean="0"/>
              <a:pPr/>
              <a:t>36</a:t>
            </a:fld>
            <a:endParaRPr lang="en-US" dirty="0"/>
          </a:p>
        </p:txBody>
      </p:sp>
      <p:pic>
        <p:nvPicPr>
          <p:cNvPr id="2050" name="Picture 2">
            <a:hlinkClick r:id="rId2" action="ppaction://hlinkfile"/>
          </p:cNvPr>
          <p:cNvPicPr>
            <a:picLocks noChangeAspect="1" noChangeArrowheads="1"/>
          </p:cNvPicPr>
          <p:nvPr/>
        </p:nvPicPr>
        <p:blipFill>
          <a:blip r:embed="rId3"/>
          <a:srcRect/>
          <a:stretch>
            <a:fillRect/>
          </a:stretch>
        </p:blipFill>
        <p:spPr bwMode="auto">
          <a:xfrm>
            <a:off x="1295400" y="1752600"/>
            <a:ext cx="7143750" cy="4016398"/>
          </a:xfrm>
          <a:prstGeom prst="rect">
            <a:avLst/>
          </a:prstGeom>
          <a:noFill/>
          <a:ln w="9525">
            <a:noFill/>
            <a:miter lim="800000"/>
            <a:headEnd/>
            <a:tailEnd/>
          </a:ln>
          <a:effectLst/>
        </p:spPr>
      </p:pic>
    </p:spTree>
  </p:cSld>
  <p:clrMapOvr>
    <a:masterClrMapping/>
  </p:clrMapOvr>
  <p:transition>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chemeClr val="bg1"/>
                </a:solidFill>
              </a:rPr>
              <a:t>Quotes – W. Millar, APTA</a:t>
            </a:r>
            <a:endParaRPr lang="en-US" dirty="0">
              <a:solidFill>
                <a:schemeClr val="bg1"/>
              </a:solidFill>
            </a:endParaRPr>
          </a:p>
        </p:txBody>
      </p:sp>
      <p:sp>
        <p:nvSpPr>
          <p:cNvPr id="5" name="Content Placeholder 4"/>
          <p:cNvSpPr>
            <a:spLocks noGrp="1"/>
          </p:cNvSpPr>
          <p:nvPr>
            <p:ph idx="1"/>
          </p:nvPr>
        </p:nvSpPr>
        <p:spPr>
          <a:xfrm>
            <a:off x="685800" y="2590800"/>
            <a:ext cx="8229600" cy="2209800"/>
          </a:xfrm>
        </p:spPr>
        <p:txBody>
          <a:bodyPr>
            <a:normAutofit/>
          </a:bodyPr>
          <a:lstStyle/>
          <a:p>
            <a:pPr marL="0" indent="0" algn="ctr">
              <a:buNone/>
            </a:pPr>
            <a:r>
              <a:rPr lang="en-US" dirty="0" smtClean="0"/>
              <a:t>We’re very good in focusing on the cost of everything, not the benefit we derive. Investments in transportation </a:t>
            </a:r>
            <a:r>
              <a:rPr lang="en-US" b="1" dirty="0" smtClean="0"/>
              <a:t>always</a:t>
            </a:r>
            <a:r>
              <a:rPr lang="en-US" dirty="0" smtClean="0"/>
              <a:t> return more than they cost.</a:t>
            </a:r>
            <a:endParaRPr lang="en-US" b="1" dirty="0"/>
          </a:p>
        </p:txBody>
      </p:sp>
      <p:sp>
        <p:nvSpPr>
          <p:cNvPr id="4" name="Slide Number Placeholder 3"/>
          <p:cNvSpPr>
            <a:spLocks noGrp="1"/>
          </p:cNvSpPr>
          <p:nvPr>
            <p:ph type="sldNum" sz="quarter" idx="12"/>
          </p:nvPr>
        </p:nvSpPr>
        <p:spPr/>
        <p:txBody>
          <a:bodyPr/>
          <a:lstStyle/>
          <a:p>
            <a:fld id="{EF0C9E3C-19E5-4993-BF69-36C7277FC386}" type="slidenum">
              <a:rPr lang="en-US" smtClean="0"/>
              <a:pPr/>
              <a:t>37</a:t>
            </a:fld>
            <a:endParaRPr lang="en-US" dirty="0"/>
          </a:p>
        </p:txBody>
      </p:sp>
    </p:spTree>
  </p:cSld>
  <p:clrMapOvr>
    <a:masterClrMapping/>
  </p:clrMapOvr>
  <p:transition>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4294967295"/>
          </p:nvPr>
        </p:nvSpPr>
        <p:spPr>
          <a:xfrm>
            <a:off x="0" y="6492875"/>
            <a:ext cx="1524000" cy="365125"/>
          </a:xfrm>
        </p:spPr>
        <p:txBody>
          <a:bodyPr/>
          <a:lstStyle/>
          <a:p>
            <a:fld id="{EF0C9E3C-19E5-4993-BF69-36C7277FC386}" type="slidenum">
              <a:rPr lang="en-US" smtClean="0"/>
              <a:pPr/>
              <a:t>38</a:t>
            </a:fld>
            <a:endParaRPr lang="en-US"/>
          </a:p>
        </p:txBody>
      </p:sp>
      <p:pic>
        <p:nvPicPr>
          <p:cNvPr id="10" name="Picture 9" descr="bigger-quotes-6.jpg"/>
          <p:cNvPicPr>
            <a:picLocks noChangeAspect="1"/>
          </p:cNvPicPr>
          <p:nvPr/>
        </p:nvPicPr>
        <p:blipFill>
          <a:blip r:embed="rId2"/>
          <a:stretch>
            <a:fillRect/>
          </a:stretch>
        </p:blipFill>
        <p:spPr>
          <a:xfrm>
            <a:off x="2133600" y="1905000"/>
            <a:ext cx="3658362" cy="4110519"/>
          </a:xfrm>
          <a:prstGeom prst="rect">
            <a:avLst/>
          </a:prstGeom>
        </p:spPr>
      </p:pic>
    </p:spTree>
  </p:cSld>
  <p:clrMapOvr>
    <a:masterClrMapping/>
  </p:clrMapOvr>
  <p:transition>
    <p:random/>
  </p:transition>
  <p:timing>
    <p:tnLst>
      <p:par>
        <p:cTn id="1" dur="indefinite" restart="never" nodeType="tmRoot"/>
      </p:par>
    </p:tnLst>
  </p:timing>
</p:sld>
</file>

<file path=ppt/theme/theme1.xml><?xml version="1.0" encoding="utf-8"?>
<a:theme xmlns:a="http://schemas.openxmlformats.org/drawingml/2006/main" name="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3567</TotalTime>
  <Words>2129</Words>
  <Application>Microsoft Macintosh PowerPoint</Application>
  <PresentationFormat>On-screen Show (4:3)</PresentationFormat>
  <Paragraphs>299</Paragraphs>
  <Slides>38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Segoe UI</vt:lpstr>
      <vt:lpstr>Wingdings</vt:lpstr>
      <vt:lpstr>Office Theme</vt:lpstr>
      <vt:lpstr>TOTAL TRANSPORTATION SYSTEM</vt:lpstr>
      <vt:lpstr>Transportation is (everything involved in) the action of moving either people or goods from an origin to a destination.</vt:lpstr>
      <vt:lpstr>Transportation is (everything involved in) the action of moving either people or goods from an origin to a destination.</vt:lpstr>
      <vt:lpstr>Transportation is complex in nature, covering multi-modal, multi-sector, multi-problem ..</vt:lpstr>
      <vt:lpstr>PowerPoint Presentation</vt:lpstr>
      <vt:lpstr>Transportation is also dynamic and interconnected internally as well as with other complex dynamic systems.</vt:lpstr>
      <vt:lpstr>Therefore, to make transportation system works, we have to share the VIEW THAT ..</vt:lpstr>
      <vt:lpstr>The basic premise is total transportation system of a region must be viewed as a single, multimodal system.</vt:lpstr>
      <vt:lpstr>Manheim’s model illustrates the interconnection of transportation system with external dynamic systems: flow &amp; activity.</vt:lpstr>
      <vt:lpstr>Cascetta further explains the dynamic interconnection between transportation supply and demand and their relationship with the activity system</vt:lpstr>
      <vt:lpstr>PowerPoint Presentation</vt:lpstr>
      <vt:lpstr>We must also understand transportation as a subsystem of the complex of social, economic, political, and other forces.</vt:lpstr>
      <vt:lpstr>PowerPoint Presentation</vt:lpstr>
      <vt:lpstr>Transportation is not an end, but derived demand</vt:lpstr>
      <vt:lpstr>Fricker &amp; Whitford (2004) illustrated transportation system as a simple stool with three legs.</vt:lpstr>
      <vt:lpstr>PowerPoint Presentation</vt:lpstr>
      <vt:lpstr>PowerPoint Presentation</vt:lpstr>
      <vt:lpstr>INTERNAL TRANSPORTATION SYSTEM COMPONENTS</vt:lpstr>
      <vt:lpstr>PowerPoint Presentation</vt:lpstr>
      <vt:lpstr>PowerPoint Presentation</vt:lpstr>
      <vt:lpstr>Transportation goals consist of:</vt:lpstr>
      <vt:lpstr>Transportasi sebagai Suatu Sistem</vt:lpstr>
      <vt:lpstr>Transportation systems analysis is a way to design or modify transportation system to meet the needs of the end user(s). It begins with:</vt:lpstr>
      <vt:lpstr>Then, in performing systems analysis, the analyst must consider the impacts on the user, the operator, and the environment. Herein, performance measures as a prime tool of system analysis.</vt:lpstr>
      <vt:lpstr>The scope of definition of “transportation system” has broadened during the past few decades.</vt:lpstr>
      <vt:lpstr>INFORMATION &amp; BEHAVIOR</vt:lpstr>
      <vt:lpstr>Understanding the changes will influence the approach of modeling transportation system</vt:lpstr>
      <vt:lpstr>PowerPoint Presentation</vt:lpstr>
      <vt:lpstr>TRANSITIONS (1/4)</vt:lpstr>
      <vt:lpstr>TRANSITIONS (2/4)</vt:lpstr>
      <vt:lpstr>TRANSITIONS (3/4)</vt:lpstr>
      <vt:lpstr>TRANSITIONS (4/4)</vt:lpstr>
      <vt:lpstr>REFERENCES</vt:lpstr>
      <vt:lpstr>Transportation System Ecology</vt:lpstr>
      <vt:lpstr>Quotes – D.E. Azaria, RSENR</vt:lpstr>
      <vt:lpstr>American Transportation Vision</vt:lpstr>
      <vt:lpstr>Quotes – W. Millar, APTA</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STATEMENT OF PURPOSE</dc:title>
  <dc:creator>Puspita Dirgahayani</dc:creator>
  <cp:lastModifiedBy>Microsoft Office User</cp:lastModifiedBy>
  <cp:revision>71</cp:revision>
  <dcterms:created xsi:type="dcterms:W3CDTF">2014-08-31T01:47:02Z</dcterms:created>
  <dcterms:modified xsi:type="dcterms:W3CDTF">2017-08-29T01:48:22Z</dcterms:modified>
</cp:coreProperties>
</file>